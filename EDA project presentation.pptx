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9" r:id="rId10"/>
    <p:sldId id="264" r:id="rId11"/>
    <p:sldId id="268" r:id="rId12"/>
    <p:sldId id="265"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915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787184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1491277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title_bg.png"/>
          <p:cNvPicPr>
            <a:picLocks noChangeAspect="1"/>
          </p:cNvPicPr>
          <p:nvPr/>
        </p:nvPicPr>
        <p:blipFill>
          <a:blip r:embed="rId3"/>
          <a:stretch>
            <a:fillRect/>
          </a:stretch>
        </p:blipFill>
        <p:spPr>
          <a:xfrm>
            <a:off x="0" y="-209940"/>
            <a:ext cx="12191695" cy="7067940"/>
          </a:xfrm>
          <a:prstGeom prst="rect">
            <a:avLst/>
          </a:prstGeom>
        </p:spPr>
      </p:pic>
      <p:sp>
        <p:nvSpPr>
          <p:cNvPr id="3" name="Text 0"/>
          <p:cNvSpPr/>
          <p:nvPr/>
        </p:nvSpPr>
        <p:spPr>
          <a:xfrm>
            <a:off x="1828800" y="3520440"/>
            <a:ext cx="8503920" cy="1737360"/>
          </a:xfrm>
          <a:prstGeom prst="rect">
            <a:avLst/>
          </a:prstGeom>
          <a:noFill/>
          <a:ln/>
        </p:spPr>
        <p:txBody>
          <a:bodyPr wrap="square" lIns="0" tIns="0" rIns="0" bIns="0" rtlCol="0" anchor="t"/>
          <a:lstStyle/>
          <a:p>
            <a:pPr marL="0" indent="0" algn="ctr">
              <a:buNone/>
            </a:pPr>
            <a:r>
              <a:rPr lang="en-US" sz="3000" b="1" dirty="0">
                <a:solidFill>
                  <a:srgbClr val="C00000"/>
                </a:solidFill>
                <a:latin typeface="Calibri" pitchFamily="34" charset="0"/>
                <a:ea typeface="Calibri" pitchFamily="34" charset="-122"/>
                <a:cs typeface="Calibri" pitchFamily="34" charset="-120"/>
              </a:rPr>
              <a:t>Travel Package Market Analysis
</a:t>
            </a:r>
            <a:r>
              <a:rPr lang="en-US" sz="1500" dirty="0">
                <a:solidFill>
                  <a:srgbClr val="1A1A1A"/>
                </a:solidFill>
                <a:latin typeface="Calibri" pitchFamily="34" charset="0"/>
                <a:ea typeface="Calibri" pitchFamily="34" charset="-122"/>
                <a:cs typeface="Calibri" pitchFamily="34" charset="-120"/>
              </a:rPr>
              <a:t>Web Scraping &amp; Exploratory Data Analysis of TravelTriangle.com
</a:t>
            </a:r>
            <a:endParaRPr lang="en-US" sz="3000" dirty="0"/>
          </a:p>
          <a:p>
            <a:pPr marL="0" indent="0" algn="ctr">
              <a:buNone/>
            </a:pPr>
            <a:r>
              <a:rPr lang="en-US" sz="1400" b="1" i="1" dirty="0">
                <a:solidFill>
                  <a:srgbClr val="555555"/>
                </a:solidFill>
                <a:latin typeface="Calibri" pitchFamily="34" charset="0"/>
                <a:ea typeface="Calibri" pitchFamily="34" charset="-122"/>
                <a:cs typeface="Calibri" pitchFamily="34" charset="-120"/>
              </a:rPr>
              <a:t>Sakshith</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11185855" cy="822960"/>
          </a:xfrm>
          <a:prstGeom prst="rect">
            <a:avLst/>
          </a:prstGeom>
          <a:noFill/>
          <a:ln/>
        </p:spPr>
        <p:txBody>
          <a:bodyPr wrap="square" lIns="0" tIns="0" rIns="0" bIns="0" rtlCol="0" anchor="ctr"/>
          <a:lstStyle/>
          <a:p>
            <a:pPr marL="0" indent="0" algn="l">
              <a:buNone/>
            </a:pPr>
            <a:r>
              <a:rPr lang="en-US" sz="3200" b="1" dirty="0">
                <a:solidFill>
                  <a:srgbClr val="FF0000"/>
                </a:solidFill>
                <a:latin typeface="Calibri" pitchFamily="34" charset="0"/>
                <a:ea typeface="Calibri" pitchFamily="34" charset="-122"/>
                <a:cs typeface="Calibri" pitchFamily="34" charset="-120"/>
              </a:rPr>
              <a:t>Agenda</a:t>
            </a:r>
            <a:endParaRPr lang="en-US" sz="3200" dirty="0"/>
          </a:p>
        </p:txBody>
      </p:sp>
      <p:sp>
        <p:nvSpPr>
          <p:cNvPr id="3" name="Text 1"/>
          <p:cNvSpPr/>
          <p:nvPr/>
        </p:nvSpPr>
        <p:spPr>
          <a:xfrm>
            <a:off x="502920" y="1371600"/>
            <a:ext cx="11185855" cy="48463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A1A1A"/>
                </a:solidFill>
                <a:latin typeface="Calibri" pitchFamily="34" charset="0"/>
                <a:ea typeface="Calibri" pitchFamily="34" charset="-122"/>
                <a:cs typeface="Calibri" pitchFamily="34" charset="-120"/>
              </a:rPr>
              <a:t>Business Problem &amp; Objective</a:t>
            </a:r>
            <a:endParaRPr lang="en-US" sz="1800" dirty="0"/>
          </a:p>
          <a:p>
            <a:pPr marL="342900" indent="-342900">
              <a:spcAft>
                <a:spcPts val="1400"/>
              </a:spcAft>
              <a:buSzPct val="100000"/>
              <a:buChar char="▪"/>
            </a:pPr>
            <a:r>
              <a:rPr lang="en-US" sz="1800" dirty="0">
                <a:solidFill>
                  <a:srgbClr val="1A1A1A"/>
                </a:solidFill>
                <a:latin typeface="Calibri" pitchFamily="34" charset="0"/>
                <a:ea typeface="Calibri" pitchFamily="34" charset="-122"/>
                <a:cs typeface="Calibri" pitchFamily="34" charset="-120"/>
              </a:rPr>
              <a:t>Data Source &amp; Web Scraping</a:t>
            </a:r>
            <a:endParaRPr lang="en-US" sz="1800" dirty="0"/>
          </a:p>
          <a:p>
            <a:pPr marL="342900" indent="-342900">
              <a:spcAft>
                <a:spcPts val="1400"/>
              </a:spcAft>
              <a:buSzPct val="100000"/>
              <a:buChar char="▪"/>
            </a:pPr>
            <a:r>
              <a:rPr lang="en-US" sz="1800" dirty="0">
                <a:solidFill>
                  <a:srgbClr val="1A1A1A"/>
                </a:solidFill>
                <a:latin typeface="Calibri" pitchFamily="34" charset="0"/>
                <a:ea typeface="Calibri" pitchFamily="34" charset="-122"/>
                <a:cs typeface="Calibri" pitchFamily="34" charset="-120"/>
              </a:rPr>
              <a:t>Data Understanding &amp; Cleaning</a:t>
            </a:r>
            <a:endParaRPr lang="en-US" sz="1800" dirty="0"/>
          </a:p>
          <a:p>
            <a:pPr marL="342900" indent="-342900">
              <a:spcAft>
                <a:spcPts val="1400"/>
              </a:spcAft>
              <a:buSzPct val="100000"/>
              <a:buChar char="▪"/>
            </a:pPr>
            <a:r>
              <a:rPr lang="en-US" sz="1800" dirty="0">
                <a:solidFill>
                  <a:srgbClr val="1A1A1A"/>
                </a:solidFill>
                <a:latin typeface="Calibri" pitchFamily="34" charset="0"/>
                <a:ea typeface="Calibri" pitchFamily="34" charset="-122"/>
                <a:cs typeface="Calibri" pitchFamily="34" charset="-120"/>
              </a:rPr>
              <a:t>Exploratory Data Analysis — 6 Business Questions</a:t>
            </a:r>
            <a:endParaRPr lang="en-US" sz="1800" dirty="0"/>
          </a:p>
          <a:p>
            <a:pPr marL="342900" indent="-342900">
              <a:spcAft>
                <a:spcPts val="1400"/>
              </a:spcAft>
              <a:buSzPct val="100000"/>
              <a:buChar char="▪"/>
            </a:pPr>
            <a:r>
              <a:rPr lang="en-US" sz="1800" dirty="0">
                <a:solidFill>
                  <a:srgbClr val="1A1A1A"/>
                </a:solidFill>
                <a:latin typeface="Calibri" pitchFamily="34" charset="0"/>
                <a:ea typeface="Calibri" pitchFamily="34" charset="-122"/>
                <a:cs typeface="Calibri" pitchFamily="34" charset="-120"/>
              </a:rPr>
              <a:t>Statistical Testing (Correlation, ANOVA, t-test, Chi-square)</a:t>
            </a:r>
            <a:endParaRPr lang="en-US" sz="1800" dirty="0"/>
          </a:p>
          <a:p>
            <a:pPr marL="342900" indent="-342900">
              <a:spcAft>
                <a:spcPts val="1400"/>
              </a:spcAft>
              <a:buSzPct val="100000"/>
              <a:buChar char="▪"/>
            </a:pPr>
            <a:r>
              <a:rPr lang="en-US" sz="1800" dirty="0">
                <a:solidFill>
                  <a:srgbClr val="1A1A1A"/>
                </a:solidFill>
                <a:latin typeface="Calibri" pitchFamily="34" charset="0"/>
                <a:ea typeface="Calibri" pitchFamily="34" charset="-122"/>
                <a:cs typeface="Calibri" pitchFamily="34" charset="-120"/>
              </a:rPr>
              <a:t>Business Insights</a:t>
            </a:r>
            <a:endParaRPr lang="en-US" sz="1800" dirty="0"/>
          </a:p>
          <a:p>
            <a:pPr marL="342900" indent="-342900">
              <a:spcAft>
                <a:spcPts val="1400"/>
              </a:spcAft>
              <a:buSzPct val="100000"/>
              <a:buChar char="▪"/>
            </a:pPr>
            <a:r>
              <a:rPr lang="en-US" sz="1800" dirty="0">
                <a:solidFill>
                  <a:srgbClr val="1A1A1A"/>
                </a:solidFill>
                <a:latin typeface="Calibri" pitchFamily="34" charset="0"/>
                <a:ea typeface="Calibri" pitchFamily="34" charset="-122"/>
                <a:cs typeface="Calibri" pitchFamily="34" charset="-120"/>
              </a:rPr>
              <a:t>Conclusion</a:t>
            </a:r>
            <a:endParaRPr lang="en-US" sz="1800" dirty="0"/>
          </a:p>
        </p:txBody>
      </p:sp>
      <p:sp>
        <p:nvSpPr>
          <p:cNvPr id="4" name="Text 2"/>
          <p:cNvSpPr/>
          <p:nvPr/>
        </p:nvSpPr>
        <p:spPr>
          <a:xfrm>
            <a:off x="365760" y="6537960"/>
            <a:ext cx="7315200" cy="27432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Sakshith  |  TravelTriangle Package Analysis</a:t>
            </a:r>
            <a:endParaRPr lang="en-US" sz="900" dirty="0"/>
          </a:p>
        </p:txBody>
      </p:sp>
      <p:sp>
        <p:nvSpPr>
          <p:cNvPr id="5" name="Text 3"/>
          <p:cNvSpPr/>
          <p:nvPr/>
        </p:nvSpPr>
        <p:spPr>
          <a:xfrm>
            <a:off x="11368735" y="6537960"/>
            <a:ext cx="457200" cy="274320"/>
          </a:xfrm>
          <a:prstGeom prst="rect">
            <a:avLst/>
          </a:prstGeom>
          <a:noFill/>
          <a:ln/>
        </p:spPr>
        <p:txBody>
          <a:bodyPr wrap="square" lIns="0" tIns="0" rIns="0" bIns="0"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11185855" cy="822960"/>
          </a:xfrm>
          <a:prstGeom prst="rect">
            <a:avLst/>
          </a:prstGeom>
          <a:noFill/>
          <a:ln/>
        </p:spPr>
        <p:txBody>
          <a:bodyPr wrap="square" lIns="0" tIns="0" rIns="0" bIns="0" rtlCol="0" anchor="ctr"/>
          <a:lstStyle/>
          <a:p>
            <a:pPr marL="0" indent="0" algn="l">
              <a:buNone/>
            </a:pPr>
            <a:r>
              <a:rPr lang="en-US" sz="3200" b="1" dirty="0">
                <a:solidFill>
                  <a:srgbClr val="FF0000"/>
                </a:solidFill>
                <a:latin typeface="Calibri" pitchFamily="34" charset="0"/>
                <a:ea typeface="Calibri" pitchFamily="34" charset="-122"/>
                <a:cs typeface="Calibri" pitchFamily="34" charset="-120"/>
              </a:rPr>
              <a:t>Business Problem &amp; Objective</a:t>
            </a:r>
            <a:endParaRPr lang="en-US" sz="3200" dirty="0"/>
          </a:p>
        </p:txBody>
      </p:sp>
      <p:sp>
        <p:nvSpPr>
          <p:cNvPr id="4" name="Text 2"/>
          <p:cNvSpPr/>
          <p:nvPr/>
        </p:nvSpPr>
        <p:spPr>
          <a:xfrm>
            <a:off x="502919" y="1348740"/>
            <a:ext cx="11185855" cy="1600200"/>
          </a:xfrm>
          <a:prstGeom prst="rect">
            <a:avLst/>
          </a:prstGeom>
          <a:noFill/>
          <a:ln/>
        </p:spPr>
        <p:txBody>
          <a:bodyPr wrap="square" lIns="0" tIns="0" rIns="0" bIns="0" rtlCol="0" anchor="t"/>
          <a:lstStyle/>
          <a:p>
            <a:r>
              <a:rPr lang="en-US" sz="1600" dirty="0">
                <a:solidFill>
                  <a:srgbClr val="1A1A1A"/>
                </a:solidFill>
                <a:latin typeface="Calibri" pitchFamily="34" charset="0"/>
                <a:ea typeface="Calibri" pitchFamily="34" charset="-122"/>
                <a:cs typeface="Calibri" pitchFamily="34" charset="-120"/>
              </a:rPr>
              <a:t>Travel package pricing on </a:t>
            </a:r>
            <a:r>
              <a:rPr lang="en-US" sz="1600" dirty="0" err="1">
                <a:solidFill>
                  <a:srgbClr val="1A1A1A"/>
                </a:solidFill>
                <a:latin typeface="Calibri" pitchFamily="34" charset="0"/>
                <a:ea typeface="Calibri" pitchFamily="34" charset="-122"/>
                <a:cs typeface="Calibri" pitchFamily="34" charset="-120"/>
              </a:rPr>
              <a:t>TravelTriangle</a:t>
            </a:r>
            <a:r>
              <a:rPr lang="en-US" sz="1600" dirty="0">
                <a:solidFill>
                  <a:srgbClr val="1A1A1A"/>
                </a:solidFill>
                <a:latin typeface="Calibri" pitchFamily="34" charset="0"/>
                <a:ea typeface="Calibri" pitchFamily="34" charset="-122"/>
                <a:cs typeface="Calibri" pitchFamily="34" charset="-120"/>
              </a:rPr>
              <a:t> is scattered across hundreds of listings covering destination, duration, hotel rating, and discounts. Travelers and analysts have no easy way to compare packages or spot pricing patterns, making it hard to identify value-for-money options or understand what actually drives price</a:t>
            </a:r>
            <a:endParaRPr lang="en-US" sz="1600" dirty="0"/>
          </a:p>
          <a:p>
            <a:endParaRPr lang="en-US" sz="1600" dirty="0"/>
          </a:p>
          <a:p>
            <a:r>
              <a:rPr lang="en-US" sz="1600" b="1" dirty="0"/>
              <a:t>The project aims to analyze scraped </a:t>
            </a:r>
            <a:r>
              <a:rPr lang="en-US" sz="1600" b="1" dirty="0" err="1"/>
              <a:t>TravelTriangle</a:t>
            </a:r>
            <a:r>
              <a:rPr lang="en-US" sz="1600" b="1" dirty="0"/>
              <a:t> package data to identify pricing patterns, destination trends, package value, and factors associated with package prices.</a:t>
            </a:r>
            <a:endParaRPr lang="en-US" sz="1600" dirty="0"/>
          </a:p>
          <a:p>
            <a:pPr marL="0" indent="0" algn="just">
              <a:buNone/>
            </a:pPr>
            <a:endParaRPr lang="en-US" sz="1450" dirty="0"/>
          </a:p>
        </p:txBody>
      </p:sp>
      <p:sp>
        <p:nvSpPr>
          <p:cNvPr id="5" name="Text 3"/>
          <p:cNvSpPr/>
          <p:nvPr/>
        </p:nvSpPr>
        <p:spPr>
          <a:xfrm>
            <a:off x="502920" y="3337560"/>
            <a:ext cx="5486400" cy="365760"/>
          </a:xfrm>
          <a:prstGeom prst="rect">
            <a:avLst/>
          </a:prstGeom>
          <a:noFill/>
          <a:ln/>
        </p:spPr>
        <p:txBody>
          <a:bodyPr wrap="square" lIns="0" tIns="0" rIns="0" bIns="0" rtlCol="0" anchor="ctr"/>
          <a:lstStyle/>
          <a:p>
            <a:pPr marL="0" indent="0">
              <a:buNone/>
            </a:pPr>
            <a:r>
              <a:rPr lang="en-US" sz="1600" b="1" dirty="0">
                <a:solidFill>
                  <a:srgbClr val="C00000"/>
                </a:solidFill>
                <a:latin typeface="Calibri" pitchFamily="34" charset="0"/>
                <a:ea typeface="Calibri" pitchFamily="34" charset="-122"/>
                <a:cs typeface="Calibri" pitchFamily="34" charset="-120"/>
              </a:rPr>
              <a:t>Objective</a:t>
            </a:r>
            <a:endParaRPr lang="en-US" sz="1600" dirty="0"/>
          </a:p>
        </p:txBody>
      </p:sp>
      <p:sp>
        <p:nvSpPr>
          <p:cNvPr id="6" name="Text 4"/>
          <p:cNvSpPr/>
          <p:nvPr/>
        </p:nvSpPr>
        <p:spPr>
          <a:xfrm>
            <a:off x="502920" y="3749040"/>
            <a:ext cx="11185855" cy="201168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Scrape package-level listings from traveltriangle.com across 60 pages</a:t>
            </a:r>
            <a:endParaRPr lang="en-US" sz="1450" dirty="0"/>
          </a:p>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Clean the data and engineer features (Price/Day, Price Category, Trip Length)</a:t>
            </a:r>
            <a:endParaRPr lang="en-US" sz="1450" dirty="0"/>
          </a:p>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Answer 6 business questions on destination popularity, pricing &amp; value</a:t>
            </a:r>
            <a:endParaRPr lang="en-US" sz="1450" dirty="0"/>
          </a:p>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Validate patterns statistically (correlation, ANOVA, t-test, chi-square)</a:t>
            </a:r>
            <a:endParaRPr lang="en-US" sz="1450" dirty="0"/>
          </a:p>
        </p:txBody>
      </p:sp>
      <p:sp>
        <p:nvSpPr>
          <p:cNvPr id="7" name="Text 5"/>
          <p:cNvSpPr/>
          <p:nvPr/>
        </p:nvSpPr>
        <p:spPr>
          <a:xfrm>
            <a:off x="365760" y="6537960"/>
            <a:ext cx="7315200" cy="27432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Sakshith  |  TravelTriangle Package Analysis</a:t>
            </a:r>
            <a:endParaRPr lang="en-US" sz="900" dirty="0"/>
          </a:p>
        </p:txBody>
      </p:sp>
      <p:sp>
        <p:nvSpPr>
          <p:cNvPr id="8" name="Text 6"/>
          <p:cNvSpPr/>
          <p:nvPr/>
        </p:nvSpPr>
        <p:spPr>
          <a:xfrm>
            <a:off x="11368735" y="6537960"/>
            <a:ext cx="457200" cy="274320"/>
          </a:xfrm>
          <a:prstGeom prst="rect">
            <a:avLst/>
          </a:prstGeom>
          <a:noFill/>
          <a:ln/>
        </p:spPr>
        <p:txBody>
          <a:bodyPr wrap="square" lIns="0" tIns="0" rIns="0" bIns="0"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11185855" cy="822960"/>
          </a:xfrm>
          <a:prstGeom prst="rect">
            <a:avLst/>
          </a:prstGeom>
          <a:noFill/>
          <a:ln/>
        </p:spPr>
        <p:txBody>
          <a:bodyPr wrap="square" lIns="0" tIns="0" rIns="0" bIns="0" rtlCol="0" anchor="ctr"/>
          <a:lstStyle/>
          <a:p>
            <a:pPr marL="0" indent="0" algn="l">
              <a:buNone/>
            </a:pPr>
            <a:r>
              <a:rPr lang="en-US" sz="3200" b="1" dirty="0">
                <a:solidFill>
                  <a:srgbClr val="FF0000"/>
                </a:solidFill>
                <a:latin typeface="Calibri" pitchFamily="34" charset="0"/>
                <a:ea typeface="Calibri" pitchFamily="34" charset="-122"/>
                <a:cs typeface="Calibri" pitchFamily="34" charset="-120"/>
              </a:rPr>
              <a:t>Data Source &amp; Web Scraping</a:t>
            </a:r>
            <a:endParaRPr lang="en-US" sz="3200" dirty="0"/>
          </a:p>
        </p:txBody>
      </p:sp>
      <p:sp>
        <p:nvSpPr>
          <p:cNvPr id="3" name="Text 1"/>
          <p:cNvSpPr/>
          <p:nvPr/>
        </p:nvSpPr>
        <p:spPr>
          <a:xfrm>
            <a:off x="502920" y="1234440"/>
            <a:ext cx="5120640" cy="365760"/>
          </a:xfrm>
          <a:prstGeom prst="rect">
            <a:avLst/>
          </a:prstGeom>
          <a:noFill/>
          <a:ln/>
        </p:spPr>
        <p:txBody>
          <a:bodyPr wrap="square" lIns="0" tIns="0" rIns="0" bIns="0" rtlCol="0" anchor="ctr"/>
          <a:lstStyle/>
          <a:p>
            <a:pPr marL="0" indent="0">
              <a:buNone/>
            </a:pPr>
            <a:r>
              <a:rPr lang="en-US" sz="1600" b="1" dirty="0">
                <a:solidFill>
                  <a:srgbClr val="C00000"/>
                </a:solidFill>
                <a:latin typeface="Calibri" pitchFamily="34" charset="0"/>
                <a:ea typeface="Calibri" pitchFamily="34" charset="-122"/>
                <a:cs typeface="Calibri" pitchFamily="34" charset="-120"/>
              </a:rPr>
              <a:t>Workflow</a:t>
            </a:r>
            <a:endParaRPr lang="en-US" sz="1600" dirty="0"/>
          </a:p>
        </p:txBody>
      </p:sp>
      <p:sp>
        <p:nvSpPr>
          <p:cNvPr id="4" name="Text 2"/>
          <p:cNvSpPr/>
          <p:nvPr/>
        </p:nvSpPr>
        <p:spPr>
          <a:xfrm>
            <a:off x="502920" y="1645920"/>
            <a:ext cx="5120640" cy="3291840"/>
          </a:xfrm>
          <a:prstGeom prst="rect">
            <a:avLst/>
          </a:prstGeom>
          <a:noFill/>
          <a:ln/>
        </p:spPr>
        <p:txBody>
          <a:bodyPr wrap="square" lIns="0" tIns="0" rIns="0" bIns="0" rtlCol="0" anchor="t"/>
          <a:lstStyle/>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traveltriangle.com/tour-packages/india</a:t>
            </a:r>
            <a:endParaRPr lang="en-US" sz="1400" dirty="0"/>
          </a:p>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Requests + BeautifulSoup</a:t>
            </a:r>
            <a:endParaRPr lang="en-US" sz="1400" dirty="0"/>
          </a:p>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Loop through 60 pages</a:t>
            </a:r>
            <a:endParaRPr lang="en-US" sz="1400" dirty="0"/>
          </a:p>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Parse each package card</a:t>
            </a:r>
            <a:endParaRPr lang="en-US" sz="1400" dirty="0"/>
          </a:p>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Structured dataset (CSV)</a:t>
            </a:r>
            <a:endParaRPr lang="en-US" sz="1400" dirty="0"/>
          </a:p>
        </p:txBody>
      </p:sp>
      <p:sp>
        <p:nvSpPr>
          <p:cNvPr id="5" name="Text 3"/>
          <p:cNvSpPr/>
          <p:nvPr/>
        </p:nvSpPr>
        <p:spPr>
          <a:xfrm>
            <a:off x="6035040" y="1234440"/>
            <a:ext cx="5486400" cy="365760"/>
          </a:xfrm>
          <a:prstGeom prst="rect">
            <a:avLst/>
          </a:prstGeom>
          <a:noFill/>
          <a:ln/>
        </p:spPr>
        <p:txBody>
          <a:bodyPr wrap="square" lIns="0" tIns="0" rIns="0" bIns="0" rtlCol="0" anchor="ctr"/>
          <a:lstStyle/>
          <a:p>
            <a:pPr marL="0" indent="0">
              <a:buNone/>
            </a:pPr>
            <a:r>
              <a:rPr lang="en-US" sz="1600" b="1" dirty="0">
                <a:solidFill>
                  <a:srgbClr val="C00000"/>
                </a:solidFill>
                <a:latin typeface="Calibri" pitchFamily="34" charset="0"/>
                <a:ea typeface="Calibri" pitchFamily="34" charset="-122"/>
                <a:cs typeface="Calibri" pitchFamily="34" charset="-120"/>
              </a:rPr>
              <a:t>Fields Collected</a:t>
            </a:r>
            <a:endParaRPr lang="en-US" sz="1600" dirty="0"/>
          </a:p>
        </p:txBody>
      </p:sp>
      <p:sp>
        <p:nvSpPr>
          <p:cNvPr id="6" name="Text 4"/>
          <p:cNvSpPr/>
          <p:nvPr/>
        </p:nvSpPr>
        <p:spPr>
          <a:xfrm>
            <a:off x="6035040" y="1645920"/>
            <a:ext cx="557784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Package Name &amp; Destination</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Days / Nights</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Current Price &amp; Old Price</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Discount (%)</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Hotel Rating</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Cities Covered</a:t>
            </a:r>
            <a:endParaRPr lang="en-US" sz="1400" dirty="0"/>
          </a:p>
        </p:txBody>
      </p:sp>
      <p:sp>
        <p:nvSpPr>
          <p:cNvPr id="7" name="Shape 5"/>
          <p:cNvSpPr/>
          <p:nvPr/>
        </p:nvSpPr>
        <p:spPr>
          <a:xfrm>
            <a:off x="6035040" y="4160520"/>
            <a:ext cx="5577840" cy="1371600"/>
          </a:xfrm>
          <a:prstGeom prst="roundRect">
            <a:avLst>
              <a:gd name="adj" fmla="val 5333"/>
            </a:avLst>
          </a:prstGeom>
          <a:solidFill>
            <a:srgbClr val="FCEAEA"/>
          </a:solidFill>
          <a:ln/>
        </p:spPr>
      </p:sp>
      <p:sp>
        <p:nvSpPr>
          <p:cNvPr id="8" name="Text 6"/>
          <p:cNvSpPr/>
          <p:nvPr/>
        </p:nvSpPr>
        <p:spPr>
          <a:xfrm>
            <a:off x="6035040" y="4251960"/>
            <a:ext cx="5577840" cy="1188720"/>
          </a:xfrm>
          <a:prstGeom prst="rect">
            <a:avLst/>
          </a:prstGeom>
          <a:noFill/>
          <a:ln/>
        </p:spPr>
        <p:txBody>
          <a:bodyPr wrap="square" lIns="0" tIns="0" rIns="0" bIns="0" rtlCol="0" anchor="t"/>
          <a:lstStyle/>
          <a:p>
            <a:pPr marL="0" indent="0" algn="ctr">
              <a:buNone/>
            </a:pPr>
            <a:r>
              <a:rPr lang="en-US" sz="3400" b="1" dirty="0">
                <a:solidFill>
                  <a:srgbClr val="C00000"/>
                </a:solidFill>
                <a:latin typeface="Calibri" pitchFamily="34" charset="0"/>
                <a:ea typeface="Calibri" pitchFamily="34" charset="-122"/>
                <a:cs typeface="Calibri" pitchFamily="34" charset="-120"/>
              </a:rPr>
              <a:t>880</a:t>
            </a:r>
            <a:endParaRPr lang="en-US" sz="3400" dirty="0"/>
          </a:p>
          <a:p>
            <a:pPr marL="0" indent="0" algn="ctr">
              <a:buNone/>
            </a:pPr>
            <a:r>
              <a:rPr lang="en-US" sz="1250" dirty="0">
                <a:solidFill>
                  <a:srgbClr val="1A1A1A"/>
                </a:solidFill>
                <a:latin typeface="Calibri" pitchFamily="34" charset="0"/>
                <a:ea typeface="Calibri" pitchFamily="34" charset="-122"/>
                <a:cs typeface="Calibri" pitchFamily="34" charset="-120"/>
              </a:rPr>
              <a:t>packages scraped across 60 pages, 9 raw fields each</a:t>
            </a:r>
            <a:endParaRPr lang="en-US" sz="3400" dirty="0"/>
          </a:p>
        </p:txBody>
      </p:sp>
      <p:sp>
        <p:nvSpPr>
          <p:cNvPr id="9" name="Text 7"/>
          <p:cNvSpPr/>
          <p:nvPr/>
        </p:nvSpPr>
        <p:spPr>
          <a:xfrm>
            <a:off x="365760" y="6537960"/>
            <a:ext cx="7315200" cy="27432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Sakshith  |  TravelTriangle Package Analysis</a:t>
            </a:r>
            <a:endParaRPr lang="en-US" sz="900" dirty="0"/>
          </a:p>
        </p:txBody>
      </p:sp>
      <p:sp>
        <p:nvSpPr>
          <p:cNvPr id="10" name="Text 8"/>
          <p:cNvSpPr/>
          <p:nvPr/>
        </p:nvSpPr>
        <p:spPr>
          <a:xfrm>
            <a:off x="11368735" y="6537960"/>
            <a:ext cx="457200" cy="274320"/>
          </a:xfrm>
          <a:prstGeom prst="rect">
            <a:avLst/>
          </a:prstGeom>
          <a:noFill/>
          <a:ln/>
        </p:spPr>
        <p:txBody>
          <a:bodyPr wrap="square" lIns="0" tIns="0" rIns="0" bIns="0"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01378"/>
            <a:ext cx="11185855" cy="822960"/>
          </a:xfrm>
          <a:prstGeom prst="rect">
            <a:avLst/>
          </a:prstGeom>
          <a:noFill/>
          <a:ln/>
        </p:spPr>
        <p:txBody>
          <a:bodyPr wrap="square" lIns="0" tIns="0" rIns="0" bIns="0" rtlCol="0" anchor="ctr"/>
          <a:lstStyle/>
          <a:p>
            <a:pPr marL="0" indent="0" algn="l">
              <a:buNone/>
            </a:pPr>
            <a:r>
              <a:rPr lang="en-US" sz="3200" b="1" dirty="0">
                <a:solidFill>
                  <a:srgbClr val="FF0000"/>
                </a:solidFill>
                <a:latin typeface="Calibri" pitchFamily="34" charset="0"/>
                <a:ea typeface="Calibri" pitchFamily="34" charset="-122"/>
                <a:cs typeface="Calibri" pitchFamily="34" charset="-120"/>
              </a:rPr>
              <a:t>Data Understanding &amp; Cleaning</a:t>
            </a:r>
            <a:endParaRPr lang="en-US" sz="3200" dirty="0"/>
          </a:p>
        </p:txBody>
      </p:sp>
      <p:sp>
        <p:nvSpPr>
          <p:cNvPr id="3" name="Text 1"/>
          <p:cNvSpPr/>
          <p:nvPr/>
        </p:nvSpPr>
        <p:spPr>
          <a:xfrm>
            <a:off x="502920" y="1234440"/>
            <a:ext cx="5486400" cy="365760"/>
          </a:xfrm>
          <a:prstGeom prst="rect">
            <a:avLst/>
          </a:prstGeom>
          <a:noFill/>
          <a:ln/>
        </p:spPr>
        <p:txBody>
          <a:bodyPr wrap="square" lIns="0" tIns="0" rIns="0" bIns="0" rtlCol="0" anchor="ctr"/>
          <a:lstStyle/>
          <a:p>
            <a:pPr marL="0" indent="0">
              <a:buNone/>
            </a:pPr>
            <a:r>
              <a:rPr lang="en-US" sz="1600" b="1" dirty="0">
                <a:solidFill>
                  <a:srgbClr val="C00000"/>
                </a:solidFill>
                <a:latin typeface="Calibri" pitchFamily="34" charset="0"/>
                <a:ea typeface="Calibri" pitchFamily="34" charset="-122"/>
                <a:cs typeface="Calibri" pitchFamily="34" charset="-120"/>
              </a:rPr>
              <a:t>Cleaning Steps</a:t>
            </a:r>
            <a:endParaRPr lang="en-US" sz="1600" dirty="0"/>
          </a:p>
        </p:txBody>
      </p:sp>
      <p:sp>
        <p:nvSpPr>
          <p:cNvPr id="4" name="Text 2"/>
          <p:cNvSpPr/>
          <p:nvPr/>
        </p:nvSpPr>
        <p:spPr>
          <a:xfrm>
            <a:off x="502920" y="1645920"/>
            <a:ext cx="5486400" cy="27432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1A1A1A"/>
                </a:solidFill>
                <a:latin typeface="Calibri" pitchFamily="34" charset="0"/>
                <a:ea typeface="Calibri" pitchFamily="34" charset="-122"/>
                <a:cs typeface="Calibri" pitchFamily="34" charset="-120"/>
              </a:rPr>
              <a:t>Missing values (Old Price: 1, Discount: 1, Hotel Rating: 2) filled with median</a:t>
            </a:r>
            <a:endParaRPr lang="en-US" sz="1350" dirty="0"/>
          </a:p>
          <a:p>
            <a:pPr marL="342900" indent="-342900">
              <a:spcAft>
                <a:spcPts val="1000"/>
              </a:spcAft>
              <a:buSzPct val="100000"/>
              <a:buChar char="▪"/>
            </a:pPr>
            <a:r>
              <a:rPr lang="en-US" sz="1350" dirty="0">
                <a:solidFill>
                  <a:srgbClr val="1A1A1A"/>
                </a:solidFill>
                <a:latin typeface="Calibri" pitchFamily="34" charset="0"/>
                <a:ea typeface="Calibri" pitchFamily="34" charset="-122"/>
                <a:cs typeface="Calibri" pitchFamily="34" charset="-120"/>
              </a:rPr>
              <a:t>Checked for duplicate records — none found</a:t>
            </a:r>
            <a:endParaRPr lang="en-US" sz="1350" dirty="0"/>
          </a:p>
          <a:p>
            <a:pPr marL="342900" indent="-342900">
              <a:spcAft>
                <a:spcPts val="1000"/>
              </a:spcAft>
              <a:buSzPct val="100000"/>
              <a:buChar char="▪"/>
            </a:pPr>
            <a:r>
              <a:rPr lang="en-US" sz="1350" dirty="0">
                <a:solidFill>
                  <a:srgbClr val="1A1A1A"/>
                </a:solidFill>
                <a:latin typeface="Calibri" pitchFamily="34" charset="0"/>
                <a:ea typeface="Calibri" pitchFamily="34" charset="-122"/>
                <a:cs typeface="Calibri" pitchFamily="34" charset="-120"/>
              </a:rPr>
              <a:t>Standardized Destination, Cities Covered &amp; Package Name text</a:t>
            </a:r>
            <a:endParaRPr lang="en-US" sz="1350" dirty="0"/>
          </a:p>
          <a:p>
            <a:pPr marL="342900" indent="-342900">
              <a:spcAft>
                <a:spcPts val="1000"/>
              </a:spcAft>
              <a:buSzPct val="100000"/>
              <a:buChar char="▪"/>
            </a:pPr>
            <a:r>
              <a:rPr lang="en-US" sz="1350" dirty="0">
                <a:solidFill>
                  <a:srgbClr val="1A1A1A"/>
                </a:solidFill>
                <a:latin typeface="Calibri" pitchFamily="34" charset="0"/>
                <a:ea typeface="Calibri" pitchFamily="34" charset="-122"/>
                <a:cs typeface="Calibri" pitchFamily="34" charset="-120"/>
              </a:rPr>
              <a:t>IQR outlier check on Price, Discount, Days — retained as genuine variation</a:t>
            </a:r>
            <a:endParaRPr lang="en-US" sz="1350" dirty="0"/>
          </a:p>
        </p:txBody>
      </p:sp>
      <p:sp>
        <p:nvSpPr>
          <p:cNvPr id="5" name="Text 3"/>
          <p:cNvSpPr/>
          <p:nvPr/>
        </p:nvSpPr>
        <p:spPr>
          <a:xfrm>
            <a:off x="502920" y="4160520"/>
            <a:ext cx="5486400" cy="365760"/>
          </a:xfrm>
          <a:prstGeom prst="rect">
            <a:avLst/>
          </a:prstGeom>
          <a:noFill/>
          <a:ln/>
        </p:spPr>
        <p:txBody>
          <a:bodyPr wrap="square" lIns="0" tIns="0" rIns="0" bIns="0" rtlCol="0" anchor="ctr"/>
          <a:lstStyle/>
          <a:p>
            <a:pPr marL="0" indent="0">
              <a:buNone/>
            </a:pPr>
            <a:r>
              <a:rPr lang="en-US" sz="1600" b="1" dirty="0">
                <a:solidFill>
                  <a:srgbClr val="C00000"/>
                </a:solidFill>
                <a:latin typeface="Calibri" pitchFamily="34" charset="0"/>
                <a:ea typeface="Calibri" pitchFamily="34" charset="-122"/>
                <a:cs typeface="Calibri" pitchFamily="34" charset="-120"/>
              </a:rPr>
              <a:t>Feature Engineering</a:t>
            </a:r>
            <a:endParaRPr lang="en-US" sz="1600" dirty="0"/>
          </a:p>
        </p:txBody>
      </p:sp>
      <p:sp>
        <p:nvSpPr>
          <p:cNvPr id="6" name="Text 4"/>
          <p:cNvSpPr/>
          <p:nvPr/>
        </p:nvSpPr>
        <p:spPr>
          <a:xfrm>
            <a:off x="502920" y="4572000"/>
            <a:ext cx="5486400" cy="14630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Price Difference = Old Price − Current Price</a:t>
            </a:r>
            <a:endParaRPr lang="en-US" sz="1350" dirty="0"/>
          </a:p>
          <a:p>
            <a:pPr marL="342900" indent="-3429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Price Per Day = Current Price / Days</a:t>
            </a:r>
            <a:endParaRPr lang="en-US" sz="1350" dirty="0"/>
          </a:p>
          <a:p>
            <a:pPr marL="342900" indent="-3429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Number of Cities, Price Category, Trip Length</a:t>
            </a:r>
            <a:endParaRPr lang="en-US" sz="1350" dirty="0"/>
          </a:p>
        </p:txBody>
      </p:sp>
      <p:sp>
        <p:nvSpPr>
          <p:cNvPr id="7" name="Shape 5"/>
          <p:cNvSpPr/>
          <p:nvPr/>
        </p:nvSpPr>
        <p:spPr>
          <a:xfrm>
            <a:off x="6309360" y="1234440"/>
            <a:ext cx="5394960" cy="4800600"/>
          </a:xfrm>
          <a:prstGeom prst="roundRect">
            <a:avLst>
              <a:gd name="adj" fmla="val 1524"/>
            </a:avLst>
          </a:prstGeom>
          <a:solidFill>
            <a:srgbClr val="FCEAEA"/>
          </a:solidFill>
          <a:ln/>
        </p:spPr>
      </p:sp>
      <p:sp>
        <p:nvSpPr>
          <p:cNvPr id="8" name="Text 6"/>
          <p:cNvSpPr/>
          <p:nvPr/>
        </p:nvSpPr>
        <p:spPr>
          <a:xfrm>
            <a:off x="6492240" y="1508760"/>
            <a:ext cx="5029200" cy="4297680"/>
          </a:xfrm>
          <a:prstGeom prst="rect">
            <a:avLst/>
          </a:prstGeom>
          <a:noFill/>
          <a:ln/>
        </p:spPr>
        <p:txBody>
          <a:bodyPr wrap="square" lIns="0" tIns="0" rIns="0" bIns="0" rtlCol="0" anchor="t"/>
          <a:lstStyle/>
          <a:p>
            <a:pPr marL="0" indent="0" algn="ctr">
              <a:buNone/>
            </a:pPr>
            <a:r>
              <a:rPr lang="en-US" sz="2600" b="1" dirty="0">
                <a:solidFill>
                  <a:srgbClr val="C00000"/>
                </a:solidFill>
                <a:latin typeface="Calibri" pitchFamily="34" charset="0"/>
                <a:ea typeface="Calibri" pitchFamily="34" charset="-122"/>
                <a:cs typeface="Calibri" pitchFamily="34" charset="-120"/>
              </a:rPr>
              <a:t>880 rows</a:t>
            </a:r>
            <a:endParaRPr lang="en-US" sz="2600" dirty="0"/>
          </a:p>
          <a:p>
            <a:pPr marL="0" indent="0" algn="ctr">
              <a:buNone/>
            </a:pPr>
            <a:r>
              <a:rPr lang="en-US" sz="1300" dirty="0">
                <a:solidFill>
                  <a:srgbClr val="1A1A1A"/>
                </a:solidFill>
                <a:latin typeface="Calibri" pitchFamily="34" charset="0"/>
                <a:ea typeface="Calibri" pitchFamily="34" charset="-122"/>
                <a:cs typeface="Calibri" pitchFamily="34" charset="-120"/>
              </a:rPr>
              <a:t>9 raw features  →  14 engineered features
</a:t>
            </a:r>
            <a:endParaRPr lang="en-US" sz="2600" dirty="0"/>
          </a:p>
          <a:p>
            <a:pPr marL="0" indent="0" algn="ctr">
              <a:buNone/>
            </a:pPr>
            <a:r>
              <a:rPr lang="en-US" sz="2200" b="1" dirty="0">
                <a:solidFill>
                  <a:srgbClr val="C00000"/>
                </a:solidFill>
                <a:latin typeface="Calibri" pitchFamily="34" charset="0"/>
                <a:ea typeface="Calibri" pitchFamily="34" charset="-122"/>
                <a:cs typeface="Calibri" pitchFamily="34" charset="-120"/>
              </a:rPr>
              <a:t>0</a:t>
            </a:r>
            <a:endParaRPr lang="en-US" sz="2600" dirty="0"/>
          </a:p>
          <a:p>
            <a:pPr marL="0" indent="0" algn="ctr">
              <a:buNone/>
            </a:pPr>
            <a:r>
              <a:rPr lang="en-US" sz="1300" dirty="0">
                <a:solidFill>
                  <a:srgbClr val="1A1A1A"/>
                </a:solidFill>
                <a:latin typeface="Calibri" pitchFamily="34" charset="0"/>
                <a:ea typeface="Calibri" pitchFamily="34" charset="-122"/>
                <a:cs typeface="Calibri" pitchFamily="34" charset="-120"/>
              </a:rPr>
              <a:t>duplicate records
</a:t>
            </a:r>
            <a:endParaRPr lang="en-US" sz="2600" dirty="0"/>
          </a:p>
          <a:p>
            <a:pPr marL="0" indent="0" algn="ctr">
              <a:buNone/>
            </a:pPr>
            <a:r>
              <a:rPr lang="en-US" sz="2200" b="1" dirty="0">
                <a:solidFill>
                  <a:srgbClr val="C00000"/>
                </a:solidFill>
                <a:latin typeface="Calibri" pitchFamily="34" charset="0"/>
                <a:ea typeface="Calibri" pitchFamily="34" charset="-122"/>
                <a:cs typeface="Calibri" pitchFamily="34" charset="-120"/>
              </a:rPr>
              <a:t>4</a:t>
            </a:r>
            <a:endParaRPr lang="en-US" sz="2600" dirty="0"/>
          </a:p>
          <a:p>
            <a:pPr marL="0" indent="0" algn="ctr">
              <a:buNone/>
            </a:pPr>
            <a:r>
              <a:rPr lang="en-US" sz="1300" dirty="0">
                <a:solidFill>
                  <a:srgbClr val="1A1A1A"/>
                </a:solidFill>
                <a:latin typeface="Calibri" pitchFamily="34" charset="0"/>
                <a:ea typeface="Calibri" pitchFamily="34" charset="-122"/>
                <a:cs typeface="Calibri" pitchFamily="34" charset="-120"/>
              </a:rPr>
              <a:t>columns had missing values — all resolved via median imputation</a:t>
            </a:r>
            <a:endParaRPr lang="en-US" sz="2600" dirty="0"/>
          </a:p>
        </p:txBody>
      </p:sp>
      <p:sp>
        <p:nvSpPr>
          <p:cNvPr id="9" name="Text 7"/>
          <p:cNvSpPr/>
          <p:nvPr/>
        </p:nvSpPr>
        <p:spPr>
          <a:xfrm>
            <a:off x="365760" y="6537960"/>
            <a:ext cx="7315200" cy="27432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Sakshith  |  TravelTriangle Package Analysis</a:t>
            </a:r>
            <a:endParaRPr lang="en-US" sz="900" dirty="0"/>
          </a:p>
        </p:txBody>
      </p:sp>
      <p:sp>
        <p:nvSpPr>
          <p:cNvPr id="10" name="Text 8"/>
          <p:cNvSpPr/>
          <p:nvPr/>
        </p:nvSpPr>
        <p:spPr>
          <a:xfrm>
            <a:off x="11368735" y="6537960"/>
            <a:ext cx="457200" cy="274320"/>
          </a:xfrm>
          <a:prstGeom prst="rect">
            <a:avLst/>
          </a:prstGeom>
          <a:noFill/>
          <a:ln/>
        </p:spPr>
        <p:txBody>
          <a:bodyPr wrap="square" lIns="0" tIns="0" rIns="0" bIns="0"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top10_destinations_count.png"/>
          <p:cNvPicPr>
            <a:picLocks noChangeAspect="1"/>
          </p:cNvPicPr>
          <p:nvPr/>
        </p:nvPicPr>
        <p:blipFill>
          <a:blip r:embed="rId3"/>
          <a:stretch>
            <a:fillRect/>
          </a:stretch>
        </p:blipFill>
        <p:spPr>
          <a:xfrm>
            <a:off x="502920" y="1380718"/>
            <a:ext cx="5432908" cy="3502205"/>
          </a:xfrm>
          <a:prstGeom prst="rect">
            <a:avLst/>
          </a:prstGeom>
        </p:spPr>
      </p:pic>
      <p:sp>
        <p:nvSpPr>
          <p:cNvPr id="4" name="Text 1"/>
          <p:cNvSpPr/>
          <p:nvPr/>
        </p:nvSpPr>
        <p:spPr>
          <a:xfrm>
            <a:off x="502920" y="5074920"/>
            <a:ext cx="5432908" cy="274320"/>
          </a:xfrm>
          <a:prstGeom prst="rect">
            <a:avLst/>
          </a:prstGeom>
          <a:noFill/>
          <a:ln/>
        </p:spPr>
        <p:txBody>
          <a:bodyPr wrap="square" lIns="0" tIns="0" rIns="0" bIns="0" rtlCol="0" anchor="ctr"/>
          <a:lstStyle/>
          <a:p>
            <a:pPr marL="0" indent="0" algn="ctr">
              <a:buNone/>
            </a:pPr>
            <a:r>
              <a:rPr lang="en-US" sz="1100" b="1" dirty="0">
                <a:solidFill>
                  <a:srgbClr val="555555"/>
                </a:solidFill>
                <a:latin typeface="Calibri" pitchFamily="34" charset="0"/>
                <a:ea typeface="Calibri" pitchFamily="34" charset="-122"/>
                <a:cs typeface="Calibri" pitchFamily="34" charset="-120"/>
              </a:rPr>
              <a:t>Q1: Package Availability by Destination</a:t>
            </a:r>
            <a:endParaRPr lang="en-US" sz="1100" dirty="0"/>
          </a:p>
        </p:txBody>
      </p:sp>
      <p:pic>
        <p:nvPicPr>
          <p:cNvPr id="5" name="Image 1" descr="top10_expensive_destinations.png"/>
          <p:cNvPicPr>
            <a:picLocks noChangeAspect="1"/>
          </p:cNvPicPr>
          <p:nvPr/>
        </p:nvPicPr>
        <p:blipFill>
          <a:blip r:embed="rId4"/>
          <a:stretch>
            <a:fillRect/>
          </a:stretch>
        </p:blipFill>
        <p:spPr>
          <a:xfrm>
            <a:off x="6255868" y="1439010"/>
            <a:ext cx="5432908" cy="3385620"/>
          </a:xfrm>
          <a:prstGeom prst="rect">
            <a:avLst/>
          </a:prstGeom>
        </p:spPr>
      </p:pic>
      <p:sp>
        <p:nvSpPr>
          <p:cNvPr id="6" name="Text 2"/>
          <p:cNvSpPr/>
          <p:nvPr/>
        </p:nvSpPr>
        <p:spPr>
          <a:xfrm>
            <a:off x="6255868" y="5074920"/>
            <a:ext cx="5432908" cy="274320"/>
          </a:xfrm>
          <a:prstGeom prst="rect">
            <a:avLst/>
          </a:prstGeom>
          <a:noFill/>
          <a:ln/>
        </p:spPr>
        <p:txBody>
          <a:bodyPr wrap="square" lIns="0" tIns="0" rIns="0" bIns="0" rtlCol="0" anchor="ctr"/>
          <a:lstStyle/>
          <a:p>
            <a:pPr marL="0" indent="0" algn="ctr">
              <a:buNone/>
            </a:pPr>
            <a:r>
              <a:rPr lang="en-US" sz="1100" b="1" dirty="0">
                <a:solidFill>
                  <a:srgbClr val="555555"/>
                </a:solidFill>
                <a:latin typeface="Calibri" pitchFamily="34" charset="0"/>
                <a:ea typeface="Calibri" pitchFamily="34" charset="-122"/>
                <a:cs typeface="Calibri" pitchFamily="34" charset="-120"/>
              </a:rPr>
              <a:t>Q2: Most Expensive Destinations (Avg. Price)</a:t>
            </a:r>
            <a:endParaRPr lang="en-US" sz="1100" dirty="0"/>
          </a:p>
        </p:txBody>
      </p:sp>
      <p:sp>
        <p:nvSpPr>
          <p:cNvPr id="7" name="Text 3"/>
          <p:cNvSpPr/>
          <p:nvPr/>
        </p:nvSpPr>
        <p:spPr>
          <a:xfrm>
            <a:off x="502920" y="5532120"/>
            <a:ext cx="11185855" cy="644745"/>
          </a:xfrm>
          <a:prstGeom prst="rect">
            <a:avLst/>
          </a:prstGeom>
          <a:noFill/>
          <a:ln/>
        </p:spPr>
        <p:txBody>
          <a:bodyPr wrap="square" lIns="0" tIns="0" rIns="0" bIns="0" rtlCol="0" anchor="t"/>
          <a:lstStyle/>
          <a:p>
            <a:r>
              <a:rPr lang="en-US" sz="1400" b="1" i="0" dirty="0">
                <a:effectLst/>
                <a:latin typeface="system-ui"/>
              </a:rPr>
              <a:t>Key Insights: </a:t>
            </a:r>
          </a:p>
          <a:p>
            <a:r>
              <a:rPr lang="en-US" sz="1400" b="1" i="0" dirty="0">
                <a:effectLst/>
                <a:latin typeface="system-ui"/>
              </a:rPr>
              <a:t>1.The analysis shows that [</a:t>
            </a:r>
            <a:r>
              <a:rPr lang="en-US" sz="1400" b="1" i="0" dirty="0" err="1">
                <a:effectLst/>
                <a:latin typeface="system-ui"/>
              </a:rPr>
              <a:t>munnar</a:t>
            </a:r>
            <a:r>
              <a:rPr lang="en-US" sz="1400" b="1" i="0" dirty="0">
                <a:effectLst/>
                <a:latin typeface="system-ui"/>
              </a:rPr>
              <a:t>] has the highest number of packages, followed by [</a:t>
            </a:r>
            <a:r>
              <a:rPr lang="en-US" sz="1400" b="1" i="0" dirty="0" err="1">
                <a:effectLst/>
                <a:latin typeface="system-ui"/>
              </a:rPr>
              <a:t>gangtok</a:t>
            </a:r>
            <a:r>
              <a:rPr lang="en-US" sz="1400" b="1" i="0" dirty="0">
                <a:effectLst/>
                <a:latin typeface="system-ui"/>
              </a:rPr>
              <a:t>] and [goa]. This indicates that these destinations have a strong presence in </a:t>
            </a:r>
            <a:r>
              <a:rPr lang="en-US" sz="1400" b="1" i="0" dirty="0" err="1">
                <a:effectLst/>
                <a:latin typeface="system-ui"/>
              </a:rPr>
              <a:t>TravelTriangle's</a:t>
            </a:r>
            <a:r>
              <a:rPr lang="en-US" sz="1400" b="1" i="0" dirty="0">
                <a:effectLst/>
                <a:latin typeface="system-ui"/>
              </a:rPr>
              <a:t> package offerings.</a:t>
            </a:r>
          </a:p>
          <a:p>
            <a:r>
              <a:rPr lang="en-US" sz="1400" b="1" i="0" dirty="0">
                <a:effectLst/>
                <a:latin typeface="system-ui"/>
              </a:rPr>
              <a:t>2.[</a:t>
            </a:r>
            <a:r>
              <a:rPr lang="en-US" sz="1400" b="1" i="0" dirty="0" err="1">
                <a:effectLst/>
                <a:latin typeface="system-ui"/>
              </a:rPr>
              <a:t>gangtok</a:t>
            </a:r>
            <a:r>
              <a:rPr lang="en-US" sz="1400" b="1" i="0" dirty="0">
                <a:effectLst/>
                <a:latin typeface="system-ui"/>
              </a:rPr>
              <a:t>] has the highest average package price among destinations with sufficient package representation.</a:t>
            </a:r>
          </a:p>
          <a:p>
            <a:pPr marL="0" indent="0" algn="l">
              <a:buNone/>
            </a:pPr>
            <a:endParaRPr lang="en-US" sz="1300" b="1" dirty="0"/>
          </a:p>
        </p:txBody>
      </p:sp>
      <p:sp>
        <p:nvSpPr>
          <p:cNvPr id="8" name="Text 4"/>
          <p:cNvSpPr/>
          <p:nvPr/>
        </p:nvSpPr>
        <p:spPr>
          <a:xfrm>
            <a:off x="365760" y="6537960"/>
            <a:ext cx="7315200" cy="27432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Sakshith  |  TravelTriangle Package Analysis</a:t>
            </a:r>
            <a:endParaRPr lang="en-US" sz="900" dirty="0"/>
          </a:p>
        </p:txBody>
      </p:sp>
      <p:sp>
        <p:nvSpPr>
          <p:cNvPr id="9" name="Text 5"/>
          <p:cNvSpPr/>
          <p:nvPr/>
        </p:nvSpPr>
        <p:spPr>
          <a:xfrm>
            <a:off x="11368735" y="6537960"/>
            <a:ext cx="457200" cy="274320"/>
          </a:xfrm>
          <a:prstGeom prst="rect">
            <a:avLst/>
          </a:prstGeom>
          <a:noFill/>
          <a:ln/>
        </p:spPr>
        <p:txBody>
          <a:bodyPr wrap="square" lIns="0" tIns="0" rIns="0" bIns="0"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6</a:t>
            </a:r>
            <a:endParaRPr lang="en-US" sz="900" dirty="0"/>
          </a:p>
        </p:txBody>
      </p:sp>
      <p:sp>
        <p:nvSpPr>
          <p:cNvPr id="10" name="TextBox 9">
            <a:extLst>
              <a:ext uri="{FF2B5EF4-FFF2-40B4-BE49-F238E27FC236}">
                <a16:creationId xmlns:a16="http://schemas.microsoft.com/office/drawing/2014/main" id="{15C1C6C3-513A-49EB-91E4-8F854613674A}"/>
              </a:ext>
            </a:extLst>
          </p:cNvPr>
          <p:cNvSpPr txBox="1"/>
          <p:nvPr/>
        </p:nvSpPr>
        <p:spPr>
          <a:xfrm>
            <a:off x="261257" y="335902"/>
            <a:ext cx="11930743" cy="1384995"/>
          </a:xfrm>
          <a:prstGeom prst="rect">
            <a:avLst/>
          </a:prstGeom>
          <a:noFill/>
        </p:spPr>
        <p:txBody>
          <a:bodyPr wrap="square" rtlCol="0">
            <a:spAutoFit/>
          </a:bodyPr>
          <a:lstStyle/>
          <a:p>
            <a:r>
              <a:rPr lang="en-US" sz="2800" b="1" i="0" dirty="0">
                <a:solidFill>
                  <a:srgbClr val="FF0000"/>
                </a:solidFill>
                <a:effectLst/>
                <a:latin typeface="system-ui"/>
              </a:rPr>
              <a:t>1. Which destinations have the highest package availability on </a:t>
            </a:r>
            <a:r>
              <a:rPr lang="en-US" sz="2800" b="1" i="0" dirty="0" err="1">
                <a:solidFill>
                  <a:srgbClr val="FF0000"/>
                </a:solidFill>
                <a:effectLst/>
                <a:latin typeface="system-ui"/>
              </a:rPr>
              <a:t>TravelTriangle</a:t>
            </a:r>
            <a:r>
              <a:rPr lang="en-US" sz="2800" b="1" i="0" dirty="0">
                <a:solidFill>
                  <a:srgbClr val="FF0000"/>
                </a:solidFill>
                <a:effectLst/>
                <a:latin typeface="system-ui"/>
              </a:rPr>
              <a:t>?</a:t>
            </a:r>
            <a:br>
              <a:rPr lang="en-US" sz="2800" b="1" dirty="0">
                <a:solidFill>
                  <a:srgbClr val="FF0000"/>
                </a:solidFill>
              </a:rPr>
            </a:br>
            <a:r>
              <a:rPr lang="en-US" sz="2800" b="1" dirty="0">
                <a:solidFill>
                  <a:srgbClr val="FF0000"/>
                </a:solidFill>
              </a:rPr>
              <a:t>     </a:t>
            </a:r>
            <a:r>
              <a:rPr lang="en-US" sz="2800" b="1" i="0" dirty="0">
                <a:solidFill>
                  <a:srgbClr val="FF0000"/>
                </a:solidFill>
                <a:effectLst/>
                <a:latin typeface="system-ui"/>
              </a:rPr>
              <a:t>Which destinations are the most expensive?</a:t>
            </a:r>
          </a:p>
          <a:p>
            <a:pPr algn="l"/>
            <a:endParaRPr lang="en-IN" sz="2800" b="1"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top10_value_for_money.png"/>
          <p:cNvPicPr>
            <a:picLocks noChangeAspect="1"/>
          </p:cNvPicPr>
          <p:nvPr/>
        </p:nvPicPr>
        <p:blipFill>
          <a:blip r:embed="rId3"/>
          <a:stretch>
            <a:fillRect/>
          </a:stretch>
        </p:blipFill>
        <p:spPr>
          <a:xfrm>
            <a:off x="502920" y="1506116"/>
            <a:ext cx="5432908" cy="3251408"/>
          </a:xfrm>
          <a:prstGeom prst="rect">
            <a:avLst/>
          </a:prstGeom>
        </p:spPr>
      </p:pic>
      <p:sp>
        <p:nvSpPr>
          <p:cNvPr id="4" name="Text 1"/>
          <p:cNvSpPr/>
          <p:nvPr/>
        </p:nvSpPr>
        <p:spPr>
          <a:xfrm>
            <a:off x="502920" y="5074920"/>
            <a:ext cx="5432908" cy="274320"/>
          </a:xfrm>
          <a:prstGeom prst="rect">
            <a:avLst/>
          </a:prstGeom>
          <a:noFill/>
          <a:ln/>
        </p:spPr>
        <p:txBody>
          <a:bodyPr wrap="square" lIns="0" tIns="0" rIns="0" bIns="0" rtlCol="0" anchor="ctr"/>
          <a:lstStyle/>
          <a:p>
            <a:pPr marL="0" indent="0" algn="ctr">
              <a:buNone/>
            </a:pPr>
            <a:r>
              <a:rPr lang="en-US" sz="1100" b="1" dirty="0">
                <a:solidFill>
                  <a:srgbClr val="555555"/>
                </a:solidFill>
                <a:latin typeface="Calibri" pitchFamily="34" charset="0"/>
                <a:ea typeface="Calibri" pitchFamily="34" charset="-122"/>
                <a:cs typeface="Calibri" pitchFamily="34" charset="-120"/>
              </a:rPr>
              <a:t>Q3: Lowest Price-per-Day by Destination</a:t>
            </a:r>
            <a:endParaRPr lang="en-US" sz="1100" dirty="0"/>
          </a:p>
        </p:txBody>
      </p:sp>
      <p:pic>
        <p:nvPicPr>
          <p:cNvPr id="5" name="Image 1" descr="top10_discount_destinations.png"/>
          <p:cNvPicPr>
            <a:picLocks noChangeAspect="1"/>
          </p:cNvPicPr>
          <p:nvPr/>
        </p:nvPicPr>
        <p:blipFill>
          <a:blip r:embed="rId4"/>
          <a:stretch>
            <a:fillRect/>
          </a:stretch>
        </p:blipFill>
        <p:spPr>
          <a:xfrm>
            <a:off x="6255868" y="1485058"/>
            <a:ext cx="5432908" cy="3293524"/>
          </a:xfrm>
          <a:prstGeom prst="rect">
            <a:avLst/>
          </a:prstGeom>
        </p:spPr>
      </p:pic>
      <p:sp>
        <p:nvSpPr>
          <p:cNvPr id="6" name="Text 2"/>
          <p:cNvSpPr/>
          <p:nvPr/>
        </p:nvSpPr>
        <p:spPr>
          <a:xfrm>
            <a:off x="6255868" y="5074920"/>
            <a:ext cx="5432908" cy="274320"/>
          </a:xfrm>
          <a:prstGeom prst="rect">
            <a:avLst/>
          </a:prstGeom>
          <a:noFill/>
          <a:ln/>
        </p:spPr>
        <p:txBody>
          <a:bodyPr wrap="square" lIns="0" tIns="0" rIns="0" bIns="0" rtlCol="0" anchor="ctr"/>
          <a:lstStyle/>
          <a:p>
            <a:pPr marL="0" indent="0" algn="ctr">
              <a:buNone/>
            </a:pPr>
            <a:r>
              <a:rPr lang="en-US" sz="1100" b="1" dirty="0">
                <a:solidFill>
                  <a:srgbClr val="555555"/>
                </a:solidFill>
                <a:latin typeface="Calibri" pitchFamily="34" charset="0"/>
                <a:ea typeface="Calibri" pitchFamily="34" charset="-122"/>
                <a:cs typeface="Calibri" pitchFamily="34" charset="-120"/>
              </a:rPr>
              <a:t>Q6: Highest Average Discounts by Destination</a:t>
            </a:r>
            <a:endParaRPr lang="en-US" sz="1100" dirty="0"/>
          </a:p>
        </p:txBody>
      </p:sp>
      <p:sp>
        <p:nvSpPr>
          <p:cNvPr id="8" name="Text 4"/>
          <p:cNvSpPr/>
          <p:nvPr/>
        </p:nvSpPr>
        <p:spPr>
          <a:xfrm>
            <a:off x="365760" y="6537960"/>
            <a:ext cx="7315200" cy="27432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Sakshith  |  TravelTriangle Package Analysis</a:t>
            </a:r>
            <a:endParaRPr lang="en-US" sz="900" dirty="0"/>
          </a:p>
        </p:txBody>
      </p:sp>
      <p:sp>
        <p:nvSpPr>
          <p:cNvPr id="9" name="Text 5"/>
          <p:cNvSpPr/>
          <p:nvPr/>
        </p:nvSpPr>
        <p:spPr>
          <a:xfrm>
            <a:off x="11368735" y="6537960"/>
            <a:ext cx="457200" cy="274320"/>
          </a:xfrm>
          <a:prstGeom prst="rect">
            <a:avLst/>
          </a:prstGeom>
          <a:noFill/>
          <a:ln/>
        </p:spPr>
        <p:txBody>
          <a:bodyPr wrap="square" lIns="0" tIns="0" rIns="0" bIns="0"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7</a:t>
            </a:r>
            <a:endParaRPr lang="en-US" sz="900" dirty="0"/>
          </a:p>
        </p:txBody>
      </p:sp>
      <p:sp>
        <p:nvSpPr>
          <p:cNvPr id="13" name="TextBox 12">
            <a:extLst>
              <a:ext uri="{FF2B5EF4-FFF2-40B4-BE49-F238E27FC236}">
                <a16:creationId xmlns:a16="http://schemas.microsoft.com/office/drawing/2014/main" id="{B23CC097-D57A-4885-AB03-CE1CA029F87F}"/>
              </a:ext>
            </a:extLst>
          </p:cNvPr>
          <p:cNvSpPr txBox="1"/>
          <p:nvPr/>
        </p:nvSpPr>
        <p:spPr>
          <a:xfrm>
            <a:off x="261257" y="335902"/>
            <a:ext cx="11930743" cy="1384995"/>
          </a:xfrm>
          <a:prstGeom prst="rect">
            <a:avLst/>
          </a:prstGeom>
          <a:noFill/>
        </p:spPr>
        <p:txBody>
          <a:bodyPr wrap="square" rtlCol="0">
            <a:spAutoFit/>
          </a:bodyPr>
          <a:lstStyle/>
          <a:p>
            <a:r>
              <a:rPr lang="en-US" sz="2800" b="1" dirty="0">
                <a:solidFill>
                  <a:srgbClr val="FF0000"/>
                </a:solidFill>
                <a:latin typeface="system-ui"/>
              </a:rPr>
              <a:t>2</a:t>
            </a:r>
            <a:r>
              <a:rPr lang="en-US" sz="2800" b="1" i="0" dirty="0">
                <a:solidFill>
                  <a:srgbClr val="FF0000"/>
                </a:solidFill>
                <a:effectLst/>
                <a:latin typeface="system-ui"/>
              </a:rPr>
              <a:t>.  Which destinations provide the best value for money?</a:t>
            </a:r>
          </a:p>
          <a:p>
            <a:pPr algn="l"/>
            <a:br>
              <a:rPr lang="en-US" sz="2800" b="1" dirty="0">
                <a:solidFill>
                  <a:srgbClr val="FF0000"/>
                </a:solidFill>
              </a:rPr>
            </a:br>
            <a:endParaRPr lang="en-IN" sz="2800" b="1" dirty="0">
              <a:solidFill>
                <a:srgbClr val="FF0000"/>
              </a:solidFill>
            </a:endParaRPr>
          </a:p>
        </p:txBody>
      </p:sp>
      <p:sp>
        <p:nvSpPr>
          <p:cNvPr id="14" name="TextBox 13">
            <a:extLst>
              <a:ext uri="{FF2B5EF4-FFF2-40B4-BE49-F238E27FC236}">
                <a16:creationId xmlns:a16="http://schemas.microsoft.com/office/drawing/2014/main" id="{8E725C7A-9F9B-4C22-849B-E371D0BF75E3}"/>
              </a:ext>
            </a:extLst>
          </p:cNvPr>
          <p:cNvSpPr txBox="1"/>
          <p:nvPr/>
        </p:nvSpPr>
        <p:spPr>
          <a:xfrm>
            <a:off x="261257" y="5570376"/>
            <a:ext cx="11564678" cy="1200329"/>
          </a:xfrm>
          <a:prstGeom prst="rect">
            <a:avLst/>
          </a:prstGeom>
          <a:noFill/>
        </p:spPr>
        <p:txBody>
          <a:bodyPr wrap="square" rtlCol="0">
            <a:spAutoFit/>
          </a:bodyPr>
          <a:lstStyle/>
          <a:p>
            <a:pPr algn="l"/>
            <a:r>
              <a:rPr lang="en-US" b="1" i="0" dirty="0">
                <a:effectLst/>
                <a:latin typeface="system-ui"/>
              </a:rPr>
              <a:t>Interpretation:</a:t>
            </a:r>
          </a:p>
          <a:p>
            <a:pPr algn="l"/>
            <a:r>
              <a:rPr lang="en-US" b="1" i="0" dirty="0">
                <a:effectLst/>
                <a:latin typeface="system-ui"/>
              </a:rPr>
              <a:t>	         [</a:t>
            </a:r>
            <a:r>
              <a:rPr lang="en-US" b="1" i="0" dirty="0" err="1">
                <a:effectLst/>
                <a:latin typeface="system-ui"/>
              </a:rPr>
              <a:t>jaisalmer</a:t>
            </a:r>
            <a:r>
              <a:rPr lang="en-US" b="1" i="0" dirty="0">
                <a:effectLst/>
                <a:latin typeface="system-ui"/>
              </a:rPr>
              <a:t>] has the lowest average price per day, indicating that travelers can potentially obtain a lower          	         daily package cost compared </a:t>
            </a:r>
            <a:r>
              <a:rPr lang="en-US" b="0" i="0" dirty="0">
                <a:solidFill>
                  <a:srgbClr val="FFFFFF"/>
                </a:solidFill>
                <a:effectLst/>
                <a:latin typeface="system-ui"/>
              </a:rPr>
              <a:t>with other destinations.</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duration_vs_price_regplot.png"/>
          <p:cNvPicPr>
            <a:picLocks noChangeAspect="1"/>
          </p:cNvPicPr>
          <p:nvPr/>
        </p:nvPicPr>
        <p:blipFill>
          <a:blip r:embed="rId3"/>
          <a:stretch>
            <a:fillRect/>
          </a:stretch>
        </p:blipFill>
        <p:spPr>
          <a:xfrm>
            <a:off x="502920" y="1371016"/>
            <a:ext cx="5432908" cy="3521608"/>
          </a:xfrm>
          <a:prstGeom prst="rect">
            <a:avLst/>
          </a:prstGeom>
        </p:spPr>
      </p:pic>
      <p:sp>
        <p:nvSpPr>
          <p:cNvPr id="4" name="Text 1"/>
          <p:cNvSpPr/>
          <p:nvPr/>
        </p:nvSpPr>
        <p:spPr>
          <a:xfrm>
            <a:off x="502920" y="5074920"/>
            <a:ext cx="5432908" cy="274320"/>
          </a:xfrm>
          <a:prstGeom prst="rect">
            <a:avLst/>
          </a:prstGeom>
          <a:noFill/>
          <a:ln/>
        </p:spPr>
        <p:txBody>
          <a:bodyPr wrap="square" lIns="0" tIns="0" rIns="0" bIns="0" rtlCol="0" anchor="ctr"/>
          <a:lstStyle/>
          <a:p>
            <a:pPr marL="0" indent="0" algn="ctr">
              <a:buNone/>
            </a:pPr>
            <a:r>
              <a:rPr lang="en-US" sz="1100" b="1" dirty="0">
                <a:solidFill>
                  <a:srgbClr val="555555"/>
                </a:solidFill>
                <a:latin typeface="Calibri" pitchFamily="34" charset="0"/>
                <a:ea typeface="Calibri" pitchFamily="34" charset="-122"/>
                <a:cs typeface="Calibri" pitchFamily="34" charset="-120"/>
              </a:rPr>
              <a:t>Q4: Trip Duration vs Package Price</a:t>
            </a:r>
            <a:endParaRPr lang="en-US" sz="1100" dirty="0"/>
          </a:p>
        </p:txBody>
      </p:sp>
      <p:sp>
        <p:nvSpPr>
          <p:cNvPr id="6" name="Text 2"/>
          <p:cNvSpPr/>
          <p:nvPr/>
        </p:nvSpPr>
        <p:spPr>
          <a:xfrm>
            <a:off x="6255868" y="5074920"/>
            <a:ext cx="5432908" cy="274320"/>
          </a:xfrm>
          <a:prstGeom prst="rect">
            <a:avLst/>
          </a:prstGeom>
          <a:noFill/>
          <a:ln/>
        </p:spPr>
        <p:txBody>
          <a:bodyPr wrap="square" lIns="0" tIns="0" rIns="0" bIns="0" rtlCol="0" anchor="ctr"/>
          <a:lstStyle/>
          <a:p>
            <a:pPr marL="0" indent="0" algn="ctr">
              <a:buNone/>
            </a:pPr>
            <a:r>
              <a:rPr lang="en-US" sz="1100" b="1" dirty="0">
                <a:solidFill>
                  <a:srgbClr val="555555"/>
                </a:solidFill>
                <a:latin typeface="Calibri" pitchFamily="34" charset="0"/>
                <a:ea typeface="Calibri" pitchFamily="34" charset="-122"/>
                <a:cs typeface="Calibri" pitchFamily="34" charset="-120"/>
              </a:rPr>
              <a:t>Q5: Package Price by Hotel Rating</a:t>
            </a:r>
            <a:endParaRPr lang="en-US" sz="1100" dirty="0"/>
          </a:p>
        </p:txBody>
      </p:sp>
      <p:sp>
        <p:nvSpPr>
          <p:cNvPr id="8" name="Text 4"/>
          <p:cNvSpPr/>
          <p:nvPr/>
        </p:nvSpPr>
        <p:spPr>
          <a:xfrm>
            <a:off x="365760" y="6537960"/>
            <a:ext cx="7315200" cy="27432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Sakshith  |  TravelTriangle Package Analysis</a:t>
            </a:r>
            <a:endParaRPr lang="en-US" sz="900" dirty="0"/>
          </a:p>
        </p:txBody>
      </p:sp>
      <p:sp>
        <p:nvSpPr>
          <p:cNvPr id="9" name="Text 5"/>
          <p:cNvSpPr/>
          <p:nvPr/>
        </p:nvSpPr>
        <p:spPr>
          <a:xfrm>
            <a:off x="11368735" y="6537960"/>
            <a:ext cx="457200" cy="274320"/>
          </a:xfrm>
          <a:prstGeom prst="rect">
            <a:avLst/>
          </a:prstGeom>
          <a:noFill/>
          <a:ln/>
        </p:spPr>
        <p:txBody>
          <a:bodyPr wrap="square" lIns="0" tIns="0" rIns="0" bIns="0"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8</a:t>
            </a:r>
            <a:endParaRPr lang="en-US" sz="900" dirty="0"/>
          </a:p>
        </p:txBody>
      </p:sp>
      <p:sp>
        <p:nvSpPr>
          <p:cNvPr id="10" name="TextBox 9">
            <a:extLst>
              <a:ext uri="{FF2B5EF4-FFF2-40B4-BE49-F238E27FC236}">
                <a16:creationId xmlns:a16="http://schemas.microsoft.com/office/drawing/2014/main" id="{945999AC-1E76-4477-8EE6-3CBB55670156}"/>
              </a:ext>
            </a:extLst>
          </p:cNvPr>
          <p:cNvSpPr txBox="1"/>
          <p:nvPr/>
        </p:nvSpPr>
        <p:spPr>
          <a:xfrm>
            <a:off x="502920" y="310080"/>
            <a:ext cx="11460175" cy="738664"/>
          </a:xfrm>
          <a:prstGeom prst="rect">
            <a:avLst/>
          </a:prstGeom>
          <a:noFill/>
        </p:spPr>
        <p:txBody>
          <a:bodyPr wrap="square" rtlCol="0">
            <a:spAutoFit/>
          </a:bodyPr>
          <a:lstStyle/>
          <a:p>
            <a:r>
              <a:rPr lang="en-US" b="1" i="0" dirty="0">
                <a:solidFill>
                  <a:srgbClr val="FF0000"/>
                </a:solidFill>
                <a:effectLst/>
                <a:latin typeface="system-ui"/>
              </a:rPr>
              <a:t> </a:t>
            </a:r>
            <a:r>
              <a:rPr lang="en-US" sz="2400" b="1" dirty="0">
                <a:solidFill>
                  <a:srgbClr val="FF0000"/>
                </a:solidFill>
                <a:latin typeface="system-ui"/>
              </a:rPr>
              <a:t>3</a:t>
            </a:r>
            <a:r>
              <a:rPr lang="en-US" sz="2400" b="1" i="0" dirty="0">
                <a:solidFill>
                  <a:srgbClr val="FF0000"/>
                </a:solidFill>
                <a:effectLst/>
                <a:latin typeface="system-ui"/>
              </a:rPr>
              <a:t>. Does trip duration affect package price?</a:t>
            </a:r>
          </a:p>
          <a:p>
            <a:r>
              <a:rPr lang="en-US" b="1" i="0" dirty="0">
                <a:solidFill>
                  <a:srgbClr val="FF0000"/>
                </a:solidFill>
                <a:effectLst/>
                <a:latin typeface="system-ui"/>
              </a:rPr>
              <a:t> </a:t>
            </a:r>
            <a:endParaRPr lang="en-IN" dirty="0"/>
          </a:p>
        </p:txBody>
      </p:sp>
      <p:sp>
        <p:nvSpPr>
          <p:cNvPr id="12" name="TextBox 11">
            <a:extLst>
              <a:ext uri="{FF2B5EF4-FFF2-40B4-BE49-F238E27FC236}">
                <a16:creationId xmlns:a16="http://schemas.microsoft.com/office/drawing/2014/main" id="{262AE663-DDBB-49F6-8314-E7A2A8F9692E}"/>
              </a:ext>
            </a:extLst>
          </p:cNvPr>
          <p:cNvSpPr txBox="1"/>
          <p:nvPr/>
        </p:nvSpPr>
        <p:spPr>
          <a:xfrm>
            <a:off x="422676" y="5458408"/>
            <a:ext cx="11620662" cy="914400"/>
          </a:xfrm>
          <a:prstGeom prst="rect">
            <a:avLst/>
          </a:prstGeom>
          <a:noFill/>
        </p:spPr>
        <p:txBody>
          <a:bodyPr wrap="square" rtlCol="0">
            <a:spAutoFit/>
          </a:bodyPr>
          <a:lstStyle/>
          <a:p>
            <a:r>
              <a:rPr lang="en-US" b="1" i="0" dirty="0">
                <a:effectLst/>
                <a:latin typeface="system-ui"/>
              </a:rPr>
              <a:t>The correlation between trip duration and package price is [0.6104717401669288], indicating a [weak/moderate/strong] positive relationship. The p-value is [5.528400685314052e-9]. Since the p-value is [greater] than 0.05, the relationship is [not </a:t>
            </a:r>
            <a:r>
              <a:rPr lang="en-US" b="0" i="0" dirty="0">
                <a:solidFill>
                  <a:srgbClr val="FFFFFF"/>
                </a:solidFill>
                <a:effectLst/>
                <a:latin typeface="system-ui"/>
              </a:rPr>
              <a:t>statistically significant].</a:t>
            </a:r>
            <a:endParaRPr lang="en-IN" dirty="0"/>
          </a:p>
        </p:txBody>
      </p:sp>
      <p:pic>
        <p:nvPicPr>
          <p:cNvPr id="15" name="Picture 14">
            <a:extLst>
              <a:ext uri="{FF2B5EF4-FFF2-40B4-BE49-F238E27FC236}">
                <a16:creationId xmlns:a16="http://schemas.microsoft.com/office/drawing/2014/main" id="{E5E40F22-DA55-434D-A8D9-35B9192B17FC}"/>
              </a:ext>
            </a:extLst>
          </p:cNvPr>
          <p:cNvPicPr>
            <a:picLocks noChangeAspect="1"/>
          </p:cNvPicPr>
          <p:nvPr/>
        </p:nvPicPr>
        <p:blipFill>
          <a:blip r:embed="rId4"/>
          <a:stretch>
            <a:fillRect/>
          </a:stretch>
        </p:blipFill>
        <p:spPr>
          <a:xfrm>
            <a:off x="6096000" y="1581780"/>
            <a:ext cx="4727510" cy="29601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4"/>
          <p:cNvSpPr/>
          <p:nvPr/>
        </p:nvSpPr>
        <p:spPr>
          <a:xfrm>
            <a:off x="365760" y="6537960"/>
            <a:ext cx="7315200" cy="27432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Sakshith  |  TravelTriangle Package Analysis</a:t>
            </a:r>
            <a:endParaRPr lang="en-US" sz="900" dirty="0"/>
          </a:p>
        </p:txBody>
      </p:sp>
      <p:sp>
        <p:nvSpPr>
          <p:cNvPr id="9" name="Text 5"/>
          <p:cNvSpPr/>
          <p:nvPr/>
        </p:nvSpPr>
        <p:spPr>
          <a:xfrm>
            <a:off x="11368735" y="6537960"/>
            <a:ext cx="457200" cy="274320"/>
          </a:xfrm>
          <a:prstGeom prst="rect">
            <a:avLst/>
          </a:prstGeom>
          <a:noFill/>
          <a:ln/>
        </p:spPr>
        <p:txBody>
          <a:bodyPr wrap="square" lIns="0" tIns="0" rIns="0" bIns="0"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7</a:t>
            </a:r>
            <a:endParaRPr lang="en-US" sz="900" dirty="0"/>
          </a:p>
        </p:txBody>
      </p:sp>
      <p:sp>
        <p:nvSpPr>
          <p:cNvPr id="13" name="TextBox 12">
            <a:extLst>
              <a:ext uri="{FF2B5EF4-FFF2-40B4-BE49-F238E27FC236}">
                <a16:creationId xmlns:a16="http://schemas.microsoft.com/office/drawing/2014/main" id="{B23CC097-D57A-4885-AB03-CE1CA029F87F}"/>
              </a:ext>
            </a:extLst>
          </p:cNvPr>
          <p:cNvSpPr txBox="1"/>
          <p:nvPr/>
        </p:nvSpPr>
        <p:spPr>
          <a:xfrm>
            <a:off x="261257" y="335902"/>
            <a:ext cx="11930743" cy="1384995"/>
          </a:xfrm>
          <a:prstGeom prst="rect">
            <a:avLst/>
          </a:prstGeom>
          <a:noFill/>
        </p:spPr>
        <p:txBody>
          <a:bodyPr wrap="square" rtlCol="0">
            <a:spAutoFit/>
          </a:bodyPr>
          <a:lstStyle/>
          <a:p>
            <a:r>
              <a:rPr lang="en-US" sz="2800" b="1" i="0" dirty="0">
                <a:solidFill>
                  <a:srgbClr val="FF0000"/>
                </a:solidFill>
                <a:effectLst/>
                <a:latin typeface="system-ui"/>
              </a:rPr>
              <a:t>4.  Which destinations offer the highest discounts?</a:t>
            </a:r>
          </a:p>
          <a:p>
            <a:br>
              <a:rPr lang="en-US" sz="2800" b="1" dirty="0">
                <a:solidFill>
                  <a:srgbClr val="FF0000"/>
                </a:solidFill>
              </a:rPr>
            </a:br>
            <a:endParaRPr lang="en-IN" sz="2800" b="1" dirty="0">
              <a:solidFill>
                <a:srgbClr val="FF0000"/>
              </a:solidFill>
            </a:endParaRPr>
          </a:p>
        </p:txBody>
      </p:sp>
      <p:sp>
        <p:nvSpPr>
          <p:cNvPr id="14" name="TextBox 13">
            <a:extLst>
              <a:ext uri="{FF2B5EF4-FFF2-40B4-BE49-F238E27FC236}">
                <a16:creationId xmlns:a16="http://schemas.microsoft.com/office/drawing/2014/main" id="{8E725C7A-9F9B-4C22-849B-E371D0BF75E3}"/>
              </a:ext>
            </a:extLst>
          </p:cNvPr>
          <p:cNvSpPr txBox="1"/>
          <p:nvPr/>
        </p:nvSpPr>
        <p:spPr>
          <a:xfrm>
            <a:off x="313661" y="4851919"/>
            <a:ext cx="11564678" cy="1200329"/>
          </a:xfrm>
          <a:prstGeom prst="rect">
            <a:avLst/>
          </a:prstGeom>
          <a:noFill/>
        </p:spPr>
        <p:txBody>
          <a:bodyPr wrap="square" rtlCol="0">
            <a:spAutoFit/>
          </a:bodyPr>
          <a:lstStyle/>
          <a:p>
            <a:pPr algn="l"/>
            <a:r>
              <a:rPr lang="en-US" b="1" i="0" dirty="0">
                <a:effectLst/>
                <a:latin typeface="system-ui"/>
              </a:rPr>
              <a:t>Interpretation:</a:t>
            </a:r>
          </a:p>
          <a:p>
            <a:pPr algn="l"/>
            <a:r>
              <a:rPr lang="en-US" b="1" i="0" dirty="0">
                <a:effectLst/>
                <a:latin typeface="system-ui"/>
              </a:rPr>
              <a:t>	         [</a:t>
            </a:r>
            <a:r>
              <a:rPr lang="en-US" b="1" i="0" dirty="0" err="1">
                <a:effectLst/>
                <a:latin typeface="system-ui"/>
              </a:rPr>
              <a:t>calanguate</a:t>
            </a:r>
            <a:r>
              <a:rPr lang="en-US" b="1" i="0" dirty="0">
                <a:effectLst/>
                <a:latin typeface="system-ui"/>
              </a:rPr>
              <a:t>] has the highest average discount among destinations with sufficient package 	  		         </a:t>
            </a:r>
            <a:r>
              <a:rPr lang="en-US" b="1" i="0" dirty="0" err="1">
                <a:effectLst/>
                <a:latin typeface="system-ui"/>
              </a:rPr>
              <a:t>representation.with</a:t>
            </a:r>
            <a:r>
              <a:rPr lang="en-US" b="1" i="0" dirty="0">
                <a:effectLst/>
                <a:latin typeface="system-ui"/>
              </a:rPr>
              <a:t> other destinations.</a:t>
            </a:r>
          </a:p>
          <a:p>
            <a:endParaRPr lang="en-IN" dirty="0"/>
          </a:p>
        </p:txBody>
      </p:sp>
      <p:pic>
        <p:nvPicPr>
          <p:cNvPr id="7" name="Picture 6">
            <a:extLst>
              <a:ext uri="{FF2B5EF4-FFF2-40B4-BE49-F238E27FC236}">
                <a16:creationId xmlns:a16="http://schemas.microsoft.com/office/drawing/2014/main" id="{6D4D0EDE-2C45-4470-AAD1-5B5F8B6B5655}"/>
              </a:ext>
            </a:extLst>
          </p:cNvPr>
          <p:cNvPicPr>
            <a:picLocks noChangeAspect="1"/>
          </p:cNvPicPr>
          <p:nvPr/>
        </p:nvPicPr>
        <p:blipFill>
          <a:blip r:embed="rId3"/>
          <a:stretch>
            <a:fillRect/>
          </a:stretch>
        </p:blipFill>
        <p:spPr>
          <a:xfrm>
            <a:off x="2186464" y="1337106"/>
            <a:ext cx="5494496" cy="3254022"/>
          </a:xfrm>
          <a:prstGeom prst="rect">
            <a:avLst/>
          </a:prstGeom>
        </p:spPr>
      </p:pic>
    </p:spTree>
    <p:extLst>
      <p:ext uri="{BB962C8B-B14F-4D97-AF65-F5344CB8AC3E}">
        <p14:creationId xmlns:p14="http://schemas.microsoft.com/office/powerpoint/2010/main" val="1548079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0040"/>
            <a:ext cx="11185855" cy="822960"/>
          </a:xfrm>
          <a:prstGeom prst="rect">
            <a:avLst/>
          </a:prstGeom>
          <a:noFill/>
          <a:ln/>
        </p:spPr>
        <p:txBody>
          <a:bodyPr wrap="square" lIns="0" tIns="0" rIns="0" bIns="0" rtlCol="0" anchor="ctr"/>
          <a:lstStyle/>
          <a:p>
            <a:pPr marL="0" indent="0" algn="l">
              <a:buNone/>
            </a:pPr>
            <a:r>
              <a:rPr lang="en-US" sz="3200" b="1" dirty="0">
                <a:solidFill>
                  <a:srgbClr val="FF0000"/>
                </a:solidFill>
                <a:latin typeface="Calibri" pitchFamily="34" charset="0"/>
                <a:ea typeface="Calibri" pitchFamily="34" charset="-122"/>
                <a:cs typeface="Calibri" pitchFamily="34" charset="-120"/>
              </a:rPr>
              <a:t>5.Correlation Heatmap &amp; Statistical Tests</a:t>
            </a:r>
            <a:endParaRPr lang="en-US" sz="3200" dirty="0"/>
          </a:p>
        </p:txBody>
      </p:sp>
      <p:pic>
        <p:nvPicPr>
          <p:cNvPr id="3" name="Image 0" descr="correlation_heatmap.png"/>
          <p:cNvPicPr>
            <a:picLocks noChangeAspect="1"/>
          </p:cNvPicPr>
          <p:nvPr/>
        </p:nvPicPr>
        <p:blipFill>
          <a:blip r:embed="rId3"/>
          <a:stretch>
            <a:fillRect/>
          </a:stretch>
        </p:blipFill>
        <p:spPr>
          <a:xfrm>
            <a:off x="502920" y="1428869"/>
            <a:ext cx="5120640" cy="4183142"/>
          </a:xfrm>
          <a:prstGeom prst="rect">
            <a:avLst/>
          </a:prstGeom>
        </p:spPr>
      </p:pic>
      <p:sp>
        <p:nvSpPr>
          <p:cNvPr id="4" name="Shape 1"/>
          <p:cNvSpPr/>
          <p:nvPr/>
        </p:nvSpPr>
        <p:spPr>
          <a:xfrm>
            <a:off x="6309360" y="1280160"/>
            <a:ext cx="5394960" cy="1033272"/>
          </a:xfrm>
          <a:prstGeom prst="roundRect">
            <a:avLst>
              <a:gd name="adj" fmla="val 5310"/>
            </a:avLst>
          </a:prstGeom>
          <a:solidFill>
            <a:srgbClr val="FCEAEA"/>
          </a:solidFill>
          <a:ln/>
        </p:spPr>
      </p:sp>
      <p:sp>
        <p:nvSpPr>
          <p:cNvPr id="5" name="Text 2"/>
          <p:cNvSpPr/>
          <p:nvPr/>
        </p:nvSpPr>
        <p:spPr>
          <a:xfrm>
            <a:off x="6492240" y="1353312"/>
            <a:ext cx="5029200" cy="896112"/>
          </a:xfrm>
          <a:prstGeom prst="rect">
            <a:avLst/>
          </a:prstGeom>
          <a:noFill/>
          <a:ln/>
        </p:spPr>
        <p:txBody>
          <a:bodyPr wrap="square" lIns="0" tIns="0" rIns="0" bIns="0" rtlCol="0" anchor="t"/>
          <a:lstStyle/>
          <a:p>
            <a:pPr marL="0" indent="0">
              <a:buNone/>
            </a:pPr>
            <a:r>
              <a:rPr lang="en-US" sz="1250" b="1" dirty="0">
                <a:solidFill>
                  <a:srgbClr val="C00000"/>
                </a:solidFill>
                <a:latin typeface="Calibri" pitchFamily="34" charset="0"/>
                <a:ea typeface="Calibri" pitchFamily="34" charset="-122"/>
                <a:cs typeface="Calibri" pitchFamily="34" charset="-120"/>
              </a:rPr>
              <a:t>Pearson Correlation — Duration vs Price
</a:t>
            </a:r>
            <a:endParaRPr lang="en-US" sz="1250" dirty="0"/>
          </a:p>
          <a:p>
            <a:pPr marL="0" indent="0">
              <a:buNone/>
            </a:pPr>
            <a:r>
              <a:rPr lang="en-US" sz="1200" dirty="0">
                <a:solidFill>
                  <a:srgbClr val="1A1A1A"/>
                </a:solidFill>
                <a:latin typeface="Calibri" pitchFamily="34" charset="0"/>
                <a:ea typeface="Calibri" pitchFamily="34" charset="-122"/>
                <a:cs typeface="Calibri" pitchFamily="34" charset="-120"/>
              </a:rPr>
              <a:t>r = 0.61, p &lt; 0.001  —  Significant positive relationship</a:t>
            </a:r>
            <a:endParaRPr lang="en-US" sz="1250" dirty="0"/>
          </a:p>
        </p:txBody>
      </p:sp>
      <p:sp>
        <p:nvSpPr>
          <p:cNvPr id="6" name="Shape 3"/>
          <p:cNvSpPr/>
          <p:nvPr/>
        </p:nvSpPr>
        <p:spPr>
          <a:xfrm>
            <a:off x="6309360" y="2450592"/>
            <a:ext cx="5394960" cy="1033272"/>
          </a:xfrm>
          <a:prstGeom prst="roundRect">
            <a:avLst>
              <a:gd name="adj" fmla="val 5310"/>
            </a:avLst>
          </a:prstGeom>
          <a:solidFill>
            <a:srgbClr val="FCEAEA"/>
          </a:solidFill>
          <a:ln/>
        </p:spPr>
      </p:sp>
      <p:sp>
        <p:nvSpPr>
          <p:cNvPr id="7" name="Text 4"/>
          <p:cNvSpPr/>
          <p:nvPr/>
        </p:nvSpPr>
        <p:spPr>
          <a:xfrm>
            <a:off x="6492240" y="2523744"/>
            <a:ext cx="5029200" cy="896112"/>
          </a:xfrm>
          <a:prstGeom prst="rect">
            <a:avLst/>
          </a:prstGeom>
          <a:noFill/>
          <a:ln/>
        </p:spPr>
        <p:txBody>
          <a:bodyPr wrap="square" lIns="0" tIns="0" rIns="0" bIns="0" rtlCol="0" anchor="t"/>
          <a:lstStyle/>
          <a:p>
            <a:pPr marL="0" indent="0">
              <a:buNone/>
            </a:pPr>
            <a:r>
              <a:rPr lang="en-US" sz="1250" b="1" dirty="0">
                <a:solidFill>
                  <a:srgbClr val="C00000"/>
                </a:solidFill>
                <a:latin typeface="Calibri" pitchFamily="34" charset="0"/>
                <a:ea typeface="Calibri" pitchFamily="34" charset="-122"/>
                <a:cs typeface="Calibri" pitchFamily="34" charset="-120"/>
              </a:rPr>
              <a:t>ANOVA — Price across Hotel Ratings
</a:t>
            </a:r>
            <a:endParaRPr lang="en-US" sz="1250" dirty="0"/>
          </a:p>
          <a:p>
            <a:pPr marL="0" indent="0">
              <a:buNone/>
            </a:pPr>
            <a:r>
              <a:rPr lang="en-US" sz="1200" dirty="0">
                <a:solidFill>
                  <a:srgbClr val="1A1A1A"/>
                </a:solidFill>
                <a:latin typeface="Calibri" pitchFamily="34" charset="0"/>
                <a:ea typeface="Calibri" pitchFamily="34" charset="-122"/>
                <a:cs typeface="Calibri" pitchFamily="34" charset="-120"/>
              </a:rPr>
              <a:t>F = 16.70, p &lt; 0.001  —  Significant price differences</a:t>
            </a:r>
            <a:endParaRPr lang="en-US" sz="1250" dirty="0"/>
          </a:p>
        </p:txBody>
      </p:sp>
      <p:sp>
        <p:nvSpPr>
          <p:cNvPr id="8" name="Shape 5"/>
          <p:cNvSpPr/>
          <p:nvPr/>
        </p:nvSpPr>
        <p:spPr>
          <a:xfrm>
            <a:off x="6309360" y="3621024"/>
            <a:ext cx="5394960" cy="1033272"/>
          </a:xfrm>
          <a:prstGeom prst="roundRect">
            <a:avLst>
              <a:gd name="adj" fmla="val 5310"/>
            </a:avLst>
          </a:prstGeom>
          <a:solidFill>
            <a:srgbClr val="FCEAEA"/>
          </a:solidFill>
          <a:ln/>
        </p:spPr>
      </p:sp>
      <p:sp>
        <p:nvSpPr>
          <p:cNvPr id="9" name="Text 6"/>
          <p:cNvSpPr/>
          <p:nvPr/>
        </p:nvSpPr>
        <p:spPr>
          <a:xfrm>
            <a:off x="6492240" y="3694176"/>
            <a:ext cx="5029200" cy="896112"/>
          </a:xfrm>
          <a:prstGeom prst="rect">
            <a:avLst/>
          </a:prstGeom>
          <a:noFill/>
          <a:ln/>
        </p:spPr>
        <p:txBody>
          <a:bodyPr wrap="square" lIns="0" tIns="0" rIns="0" bIns="0" rtlCol="0" anchor="t"/>
          <a:lstStyle/>
          <a:p>
            <a:pPr marL="0" indent="0">
              <a:buNone/>
            </a:pPr>
            <a:r>
              <a:rPr lang="en-US" sz="1250" b="1" dirty="0">
                <a:solidFill>
                  <a:srgbClr val="C00000"/>
                </a:solidFill>
                <a:latin typeface="Calibri" pitchFamily="34" charset="0"/>
                <a:ea typeface="Calibri" pitchFamily="34" charset="-122"/>
                <a:cs typeface="Calibri" pitchFamily="34" charset="-120"/>
              </a:rPr>
              <a:t>Independent t-test — 3★ vs 4★ Price
</a:t>
            </a:r>
            <a:endParaRPr lang="en-US" sz="1250" dirty="0"/>
          </a:p>
          <a:p>
            <a:pPr marL="0" indent="0">
              <a:buNone/>
            </a:pPr>
            <a:r>
              <a:rPr lang="en-US" sz="1200" dirty="0">
                <a:solidFill>
                  <a:srgbClr val="1A1A1A"/>
                </a:solidFill>
                <a:latin typeface="Calibri" pitchFamily="34" charset="0"/>
                <a:ea typeface="Calibri" pitchFamily="34" charset="-122"/>
                <a:cs typeface="Calibri" pitchFamily="34" charset="-120"/>
              </a:rPr>
              <a:t>t = -2.30, p = 0.023  —  Significant price difference</a:t>
            </a:r>
            <a:endParaRPr lang="en-US" sz="1250" dirty="0"/>
          </a:p>
        </p:txBody>
      </p:sp>
      <p:sp>
        <p:nvSpPr>
          <p:cNvPr id="10" name="Shape 7"/>
          <p:cNvSpPr/>
          <p:nvPr/>
        </p:nvSpPr>
        <p:spPr>
          <a:xfrm>
            <a:off x="6309360" y="4791456"/>
            <a:ext cx="5394960" cy="1033272"/>
          </a:xfrm>
          <a:prstGeom prst="roundRect">
            <a:avLst>
              <a:gd name="adj" fmla="val 5310"/>
            </a:avLst>
          </a:prstGeom>
          <a:solidFill>
            <a:srgbClr val="FCEAEA"/>
          </a:solidFill>
          <a:ln/>
        </p:spPr>
      </p:sp>
      <p:sp>
        <p:nvSpPr>
          <p:cNvPr id="11" name="Text 8"/>
          <p:cNvSpPr/>
          <p:nvPr/>
        </p:nvSpPr>
        <p:spPr>
          <a:xfrm>
            <a:off x="6492240" y="4864608"/>
            <a:ext cx="5029200" cy="896112"/>
          </a:xfrm>
          <a:prstGeom prst="rect">
            <a:avLst/>
          </a:prstGeom>
          <a:noFill/>
          <a:ln/>
        </p:spPr>
        <p:txBody>
          <a:bodyPr wrap="square" lIns="0" tIns="0" rIns="0" bIns="0" rtlCol="0" anchor="t"/>
          <a:lstStyle/>
          <a:p>
            <a:pPr marL="0" indent="0">
              <a:buNone/>
            </a:pPr>
            <a:r>
              <a:rPr lang="en-US" sz="1250" b="1" dirty="0">
                <a:solidFill>
                  <a:srgbClr val="C00000"/>
                </a:solidFill>
                <a:latin typeface="Calibri" pitchFamily="34" charset="0"/>
                <a:ea typeface="Calibri" pitchFamily="34" charset="-122"/>
                <a:cs typeface="Calibri" pitchFamily="34" charset="-120"/>
              </a:rPr>
              <a:t>Chi-square — Hotel Rating × Price Category
</a:t>
            </a:r>
            <a:endParaRPr lang="en-US" sz="1250" dirty="0"/>
          </a:p>
          <a:p>
            <a:pPr marL="0" indent="0">
              <a:buNone/>
            </a:pPr>
            <a:r>
              <a:rPr lang="en-US" sz="1200" dirty="0">
                <a:solidFill>
                  <a:srgbClr val="1A1A1A"/>
                </a:solidFill>
                <a:latin typeface="Calibri" pitchFamily="34" charset="0"/>
                <a:ea typeface="Calibri" pitchFamily="34" charset="-122"/>
                <a:cs typeface="Calibri" pitchFamily="34" charset="-120"/>
              </a:rPr>
              <a:t>χ² = 16.96, p = 0.009  —  Significant association</a:t>
            </a:r>
            <a:endParaRPr lang="en-US" sz="1250" dirty="0"/>
          </a:p>
        </p:txBody>
      </p:sp>
      <p:sp>
        <p:nvSpPr>
          <p:cNvPr id="12" name="Text 9"/>
          <p:cNvSpPr/>
          <p:nvPr/>
        </p:nvSpPr>
        <p:spPr>
          <a:xfrm>
            <a:off x="365760" y="6537960"/>
            <a:ext cx="7315200" cy="27432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Sakshith  |  TravelTriangle Package Analysis</a:t>
            </a:r>
            <a:endParaRPr lang="en-US" sz="900" dirty="0"/>
          </a:p>
        </p:txBody>
      </p:sp>
      <p:sp>
        <p:nvSpPr>
          <p:cNvPr id="13" name="Text 10"/>
          <p:cNvSpPr/>
          <p:nvPr/>
        </p:nvSpPr>
        <p:spPr>
          <a:xfrm>
            <a:off x="11368735" y="6537960"/>
            <a:ext cx="457200" cy="274320"/>
          </a:xfrm>
          <a:prstGeom prst="rect">
            <a:avLst/>
          </a:prstGeom>
          <a:noFill/>
          <a:ln/>
        </p:spPr>
        <p:txBody>
          <a:bodyPr wrap="square" lIns="0" tIns="0" rIns="0" bIns="0"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5"/>
          <p:cNvSpPr/>
          <p:nvPr/>
        </p:nvSpPr>
        <p:spPr>
          <a:xfrm>
            <a:off x="11368735" y="6537960"/>
            <a:ext cx="457200" cy="274320"/>
          </a:xfrm>
          <a:prstGeom prst="rect">
            <a:avLst/>
          </a:prstGeom>
          <a:noFill/>
          <a:ln/>
        </p:spPr>
        <p:txBody>
          <a:bodyPr wrap="square" lIns="0" tIns="0" rIns="0" bIns="0"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8</a:t>
            </a:r>
            <a:endParaRPr lang="en-US" sz="900" dirty="0"/>
          </a:p>
        </p:txBody>
      </p:sp>
      <p:sp>
        <p:nvSpPr>
          <p:cNvPr id="10" name="TextBox 9">
            <a:extLst>
              <a:ext uri="{FF2B5EF4-FFF2-40B4-BE49-F238E27FC236}">
                <a16:creationId xmlns:a16="http://schemas.microsoft.com/office/drawing/2014/main" id="{945999AC-1E76-4477-8EE6-3CBB55670156}"/>
              </a:ext>
            </a:extLst>
          </p:cNvPr>
          <p:cNvSpPr txBox="1"/>
          <p:nvPr/>
        </p:nvSpPr>
        <p:spPr>
          <a:xfrm>
            <a:off x="365912" y="207266"/>
            <a:ext cx="11460175" cy="1107996"/>
          </a:xfrm>
          <a:prstGeom prst="rect">
            <a:avLst/>
          </a:prstGeom>
          <a:noFill/>
        </p:spPr>
        <p:txBody>
          <a:bodyPr wrap="square" rtlCol="0">
            <a:spAutoFit/>
          </a:bodyPr>
          <a:lstStyle/>
          <a:p>
            <a:pPr algn="l"/>
            <a:r>
              <a:rPr lang="en-US" b="1" i="0" dirty="0">
                <a:solidFill>
                  <a:srgbClr val="FF0000"/>
                </a:solidFill>
                <a:effectLst/>
                <a:latin typeface="system-ui"/>
              </a:rPr>
              <a:t> </a:t>
            </a:r>
            <a:r>
              <a:rPr lang="en-US" sz="2400" b="1" i="0" dirty="0">
                <a:solidFill>
                  <a:srgbClr val="FF0000"/>
                </a:solidFill>
                <a:effectLst/>
                <a:latin typeface="system-ui"/>
              </a:rPr>
              <a:t>6.Chi-Square Test:</a:t>
            </a:r>
          </a:p>
          <a:p>
            <a:pPr algn="l"/>
            <a:r>
              <a:rPr lang="en-US" sz="2400" b="1" dirty="0">
                <a:solidFill>
                  <a:srgbClr val="FF0000"/>
                </a:solidFill>
                <a:latin typeface="system-ui"/>
              </a:rPr>
              <a:t>	</a:t>
            </a:r>
            <a:r>
              <a:rPr lang="en-US" sz="2400" b="1" i="0" dirty="0">
                <a:solidFill>
                  <a:srgbClr val="FF0000"/>
                </a:solidFill>
                <a:effectLst/>
                <a:latin typeface="system-ui"/>
              </a:rPr>
              <a:t>Is hotel rating associated with package price category?</a:t>
            </a:r>
          </a:p>
          <a:p>
            <a:r>
              <a:rPr lang="en-US" b="1" i="0" dirty="0">
                <a:solidFill>
                  <a:srgbClr val="FF0000"/>
                </a:solidFill>
                <a:effectLst/>
                <a:latin typeface="system-ui"/>
              </a:rPr>
              <a:t> </a:t>
            </a:r>
            <a:endParaRPr lang="en-IN" b="1" dirty="0">
              <a:solidFill>
                <a:srgbClr val="FF0000"/>
              </a:solidFill>
            </a:endParaRPr>
          </a:p>
        </p:txBody>
      </p:sp>
      <p:pic>
        <p:nvPicPr>
          <p:cNvPr id="5" name="Picture 4">
            <a:extLst>
              <a:ext uri="{FF2B5EF4-FFF2-40B4-BE49-F238E27FC236}">
                <a16:creationId xmlns:a16="http://schemas.microsoft.com/office/drawing/2014/main" id="{0B89AB1B-3B82-4594-8507-047A26E44324}"/>
              </a:ext>
            </a:extLst>
          </p:cNvPr>
          <p:cNvPicPr>
            <a:picLocks noChangeAspect="1"/>
          </p:cNvPicPr>
          <p:nvPr/>
        </p:nvPicPr>
        <p:blipFill>
          <a:blip r:embed="rId3"/>
          <a:stretch>
            <a:fillRect/>
          </a:stretch>
        </p:blipFill>
        <p:spPr>
          <a:xfrm>
            <a:off x="3123805" y="1315262"/>
            <a:ext cx="4557155" cy="3292125"/>
          </a:xfrm>
          <a:prstGeom prst="rect">
            <a:avLst/>
          </a:prstGeom>
        </p:spPr>
      </p:pic>
      <p:sp>
        <p:nvSpPr>
          <p:cNvPr id="18" name="TextBox 17">
            <a:extLst>
              <a:ext uri="{FF2B5EF4-FFF2-40B4-BE49-F238E27FC236}">
                <a16:creationId xmlns:a16="http://schemas.microsoft.com/office/drawing/2014/main" id="{E8DFA22B-88AD-4E7E-8AB6-4D7C227E2820}"/>
              </a:ext>
            </a:extLst>
          </p:cNvPr>
          <p:cNvSpPr txBox="1"/>
          <p:nvPr/>
        </p:nvSpPr>
        <p:spPr>
          <a:xfrm>
            <a:off x="365912" y="4814411"/>
            <a:ext cx="11322864" cy="1723549"/>
          </a:xfrm>
          <a:prstGeom prst="rect">
            <a:avLst/>
          </a:prstGeom>
          <a:noFill/>
        </p:spPr>
        <p:txBody>
          <a:bodyPr wrap="square" rtlCol="0">
            <a:spAutoFit/>
          </a:bodyPr>
          <a:lstStyle/>
          <a:p>
            <a:pPr algn="l"/>
            <a:r>
              <a:rPr lang="en-US" sz="1400" b="1" i="0" dirty="0">
                <a:effectLst/>
                <a:latin typeface="system-ui"/>
              </a:rPr>
              <a:t>Hypotheses</a:t>
            </a:r>
          </a:p>
          <a:p>
            <a:pPr algn="l"/>
            <a:r>
              <a:rPr lang="en-US" sz="1400" b="1" i="0" dirty="0">
                <a:effectLst/>
                <a:latin typeface="system-ui"/>
              </a:rPr>
              <a:t>H₀: Hotel rating and price category are independent.</a:t>
            </a:r>
          </a:p>
          <a:p>
            <a:pPr algn="l"/>
            <a:r>
              <a:rPr lang="en-US" sz="1400" b="1" i="0" dirty="0">
                <a:effectLst/>
                <a:latin typeface="system-ui"/>
              </a:rPr>
              <a:t>H₁: Hotel rating and price category are associated.</a:t>
            </a:r>
          </a:p>
          <a:p>
            <a:pPr algn="l"/>
            <a:r>
              <a:rPr lang="en-US" sz="1400" b="1" i="0" dirty="0">
                <a:effectLst/>
                <a:latin typeface="system-ui"/>
              </a:rPr>
              <a:t>Interpretation :</a:t>
            </a:r>
          </a:p>
          <a:p>
            <a:pPr algn="l"/>
            <a:r>
              <a:rPr lang="en-US" sz="1400" b="1" i="0" dirty="0">
                <a:effectLst/>
                <a:latin typeface="system-ui"/>
              </a:rPr>
              <a:t>p-value &lt; 0.05</a:t>
            </a:r>
          </a:p>
          <a:p>
            <a:pPr algn="l"/>
            <a:r>
              <a:rPr lang="en-US" sz="1400" b="1" i="0" dirty="0">
                <a:effectLst/>
                <a:latin typeface="system-ui"/>
              </a:rPr>
              <a:t>Reject H₀. There is statistically significant evidence of an association between hotel rating and package price category</a:t>
            </a:r>
            <a:r>
              <a:rPr lang="en-US" b="1" i="0" dirty="0">
                <a:effectLst/>
                <a:latin typeface="system-ui"/>
              </a:rPr>
              <a:t>.</a:t>
            </a:r>
          </a:p>
          <a:p>
            <a:endParaRPr lang="en-IN" dirty="0"/>
          </a:p>
        </p:txBody>
      </p:sp>
    </p:spTree>
    <p:extLst>
      <p:ext uri="{BB962C8B-B14F-4D97-AF65-F5344CB8AC3E}">
        <p14:creationId xmlns:p14="http://schemas.microsoft.com/office/powerpoint/2010/main" val="1952810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0040"/>
            <a:ext cx="11185855" cy="822960"/>
          </a:xfrm>
          <a:prstGeom prst="rect">
            <a:avLst/>
          </a:prstGeom>
          <a:noFill/>
          <a:ln/>
        </p:spPr>
        <p:txBody>
          <a:bodyPr wrap="square" lIns="0" tIns="0" rIns="0" bIns="0" rtlCol="0" anchor="ctr"/>
          <a:lstStyle/>
          <a:p>
            <a:pPr marL="0" indent="0" algn="l">
              <a:buNone/>
            </a:pPr>
            <a:r>
              <a:rPr lang="en-US" sz="3200" b="1" dirty="0">
                <a:solidFill>
                  <a:srgbClr val="FF0000"/>
                </a:solidFill>
                <a:latin typeface="Calibri" pitchFamily="34" charset="0"/>
                <a:ea typeface="Calibri" pitchFamily="34" charset="-122"/>
                <a:cs typeface="Calibri" pitchFamily="34" charset="-120"/>
              </a:rPr>
              <a:t>Business Insights</a:t>
            </a:r>
            <a:endParaRPr lang="en-US" sz="3200" dirty="0"/>
          </a:p>
        </p:txBody>
      </p:sp>
      <p:sp>
        <p:nvSpPr>
          <p:cNvPr id="3" name="Text 1"/>
          <p:cNvSpPr/>
          <p:nvPr/>
        </p:nvSpPr>
        <p:spPr>
          <a:xfrm>
            <a:off x="502920" y="1371600"/>
            <a:ext cx="11185855" cy="4754880"/>
          </a:xfrm>
          <a:prstGeom prst="rect">
            <a:avLst/>
          </a:prstGeom>
          <a:noFill/>
          <a:ln/>
        </p:spPr>
        <p:txBody>
          <a:bodyPr wrap="square" lIns="0" tIns="0" rIns="0" bIns="0" rtlCol="0" anchor="t"/>
          <a:lstStyle/>
          <a:p>
            <a:pPr marL="342900" indent="-342900">
              <a:spcAft>
                <a:spcPts val="2000"/>
              </a:spcAft>
              <a:buSzPct val="100000"/>
              <a:buChar char="▪"/>
            </a:pPr>
            <a:r>
              <a:rPr lang="en-US" sz="1600" dirty="0">
                <a:solidFill>
                  <a:srgbClr val="1A1A1A"/>
                </a:solidFill>
                <a:latin typeface="Calibri" pitchFamily="34" charset="0"/>
                <a:ea typeface="Calibri" pitchFamily="34" charset="-122"/>
                <a:cs typeface="Calibri" pitchFamily="34" charset="-120"/>
              </a:rPr>
              <a:t>Munnar, Gangtok, and Goa dominate package availability, showing strong market saturation at these destinations.</a:t>
            </a:r>
            <a:endParaRPr lang="en-US" sz="1600" dirty="0"/>
          </a:p>
          <a:p>
            <a:pPr marL="342900" indent="-342900">
              <a:spcAft>
                <a:spcPts val="2000"/>
              </a:spcAft>
              <a:buSzPct val="100000"/>
              <a:buChar char="▪"/>
            </a:pPr>
            <a:r>
              <a:rPr lang="en-US" sz="1600" dirty="0">
                <a:solidFill>
                  <a:srgbClr val="1A1A1A"/>
                </a:solidFill>
                <a:latin typeface="Calibri" pitchFamily="34" charset="0"/>
                <a:ea typeface="Calibri" pitchFamily="34" charset="-122"/>
                <a:cs typeface="Calibri" pitchFamily="34" charset="-120"/>
              </a:rPr>
              <a:t>Gangtok, Dalhousie, and Darjeeling command the highest average prices; Jaisalmer, Kovalam, and Udaipur offer the best value per day.</a:t>
            </a:r>
            <a:endParaRPr lang="en-US" sz="1600" dirty="0"/>
          </a:p>
          <a:p>
            <a:pPr marL="342900" indent="-342900">
              <a:spcAft>
                <a:spcPts val="2000"/>
              </a:spcAft>
              <a:buSzPct val="100000"/>
              <a:buChar char="▪"/>
            </a:pPr>
            <a:r>
              <a:rPr lang="en-US" sz="1600" dirty="0">
                <a:solidFill>
                  <a:srgbClr val="1A1A1A"/>
                </a:solidFill>
                <a:latin typeface="Calibri" pitchFamily="34" charset="0"/>
                <a:ea typeface="Calibri" pitchFamily="34" charset="-122"/>
                <a:cs typeface="Calibri" pitchFamily="34" charset="-120"/>
              </a:rPr>
              <a:t>Trip duration is a strong, statistically significant driver of price (r = 0.61, p &lt; 0.001) — longer trips cost more.</a:t>
            </a:r>
            <a:endParaRPr lang="en-US" sz="1600" dirty="0"/>
          </a:p>
          <a:p>
            <a:pPr marL="342900" indent="-342900">
              <a:spcAft>
                <a:spcPts val="2000"/>
              </a:spcAft>
              <a:buSzPct val="100000"/>
              <a:buChar char="▪"/>
            </a:pPr>
            <a:r>
              <a:rPr lang="en-US" sz="1600" dirty="0">
                <a:solidFill>
                  <a:srgbClr val="1A1A1A"/>
                </a:solidFill>
                <a:latin typeface="Calibri" pitchFamily="34" charset="0"/>
                <a:ea typeface="Calibri" pitchFamily="34" charset="-122"/>
                <a:cs typeface="Calibri" pitchFamily="34" charset="-120"/>
              </a:rPr>
              <a:t>Hotel rating significantly affects price (ANOVA p &lt; 0.001) and price category (χ² p = 0.009); 5★ packages average ~₹50,600 — far above other ratings.</a:t>
            </a:r>
            <a:endParaRPr lang="en-US" sz="1600" dirty="0"/>
          </a:p>
          <a:p>
            <a:pPr marL="342900" indent="-342900">
              <a:spcAft>
                <a:spcPts val="2000"/>
              </a:spcAft>
              <a:buSzPct val="100000"/>
              <a:buChar char="▪"/>
            </a:pPr>
            <a:r>
              <a:rPr lang="en-US" sz="1600" dirty="0">
                <a:solidFill>
                  <a:srgbClr val="1A1A1A"/>
                </a:solidFill>
                <a:latin typeface="Calibri" pitchFamily="34" charset="0"/>
                <a:ea typeface="Calibri" pitchFamily="34" charset="-122"/>
                <a:cs typeface="Calibri" pitchFamily="34" charset="-120"/>
              </a:rPr>
              <a:t>Calangute and Jaipur offer the steepest average discounts, useful for budget-conscious travel planning.</a:t>
            </a:r>
            <a:endParaRPr lang="en-US" sz="1600" dirty="0"/>
          </a:p>
        </p:txBody>
      </p:sp>
      <p:sp>
        <p:nvSpPr>
          <p:cNvPr id="4" name="Text 2"/>
          <p:cNvSpPr/>
          <p:nvPr/>
        </p:nvSpPr>
        <p:spPr>
          <a:xfrm>
            <a:off x="365760" y="6537960"/>
            <a:ext cx="7315200" cy="27432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Sakshith  |  TravelTriangle Package Analysis</a:t>
            </a:r>
            <a:endParaRPr lang="en-US" sz="900" dirty="0"/>
          </a:p>
        </p:txBody>
      </p:sp>
      <p:sp>
        <p:nvSpPr>
          <p:cNvPr id="5" name="Text 3"/>
          <p:cNvSpPr/>
          <p:nvPr/>
        </p:nvSpPr>
        <p:spPr>
          <a:xfrm>
            <a:off x="11368735" y="6537960"/>
            <a:ext cx="457200" cy="274320"/>
          </a:xfrm>
          <a:prstGeom prst="rect">
            <a:avLst/>
          </a:prstGeom>
          <a:noFill/>
          <a:ln/>
        </p:spPr>
        <p:txBody>
          <a:bodyPr wrap="square" lIns="0" tIns="0" rIns="0" bIns="0"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0040"/>
            <a:ext cx="11185855" cy="822960"/>
          </a:xfrm>
          <a:prstGeom prst="rect">
            <a:avLst/>
          </a:prstGeom>
          <a:noFill/>
          <a:ln/>
        </p:spPr>
        <p:txBody>
          <a:bodyPr wrap="square" lIns="0" tIns="0" rIns="0" bIns="0" rtlCol="0" anchor="ctr"/>
          <a:lstStyle/>
          <a:p>
            <a:pPr marL="0" indent="0" algn="l">
              <a:buNone/>
            </a:pPr>
            <a:r>
              <a:rPr lang="en-US" sz="3200" b="1" dirty="0">
                <a:solidFill>
                  <a:srgbClr val="FF0000"/>
                </a:solidFill>
                <a:latin typeface="Calibri" pitchFamily="34" charset="0"/>
                <a:ea typeface="Calibri" pitchFamily="34" charset="-122"/>
                <a:cs typeface="Calibri" pitchFamily="34" charset="-120"/>
              </a:rPr>
              <a:t>Conclusion</a:t>
            </a:r>
            <a:endParaRPr lang="en-US" sz="3200" dirty="0"/>
          </a:p>
        </p:txBody>
      </p:sp>
      <p:sp>
        <p:nvSpPr>
          <p:cNvPr id="3" name="Text 1"/>
          <p:cNvSpPr/>
          <p:nvPr/>
        </p:nvSpPr>
        <p:spPr>
          <a:xfrm>
            <a:off x="502920" y="1371600"/>
            <a:ext cx="11185855" cy="4114800"/>
          </a:xfrm>
          <a:prstGeom prst="rect">
            <a:avLst/>
          </a:prstGeom>
          <a:noFill/>
          <a:ln/>
        </p:spPr>
        <p:txBody>
          <a:bodyPr wrap="square" lIns="0" tIns="0" rIns="0" bIns="0" rtlCol="0" anchor="t"/>
          <a:lstStyle/>
          <a:p>
            <a:pPr marL="0" indent="0" algn="just">
              <a:buNone/>
            </a:pPr>
            <a:r>
              <a:rPr lang="en-US" sz="1550" dirty="0">
                <a:solidFill>
                  <a:srgbClr val="1A1A1A"/>
                </a:solidFill>
                <a:latin typeface="Calibri" pitchFamily="34" charset="0"/>
                <a:ea typeface="Calibri" pitchFamily="34" charset="-122"/>
                <a:cs typeface="Calibri" pitchFamily="34" charset="-120"/>
              </a:rPr>
              <a:t>This project scraped and analyzed 880 travel packages from TravelTriangle across 60 pages using Python, Requests, and BeautifulSoup. After cleaning the data and engineering features such as Price Per Day and Price Category, exploratory data analysis and statistical testing — Pearson correlation, ANOVA, t-test, and chi-square — answered 6 business questions on destination popularity, pricing, and value for money.</a:t>
            </a:r>
            <a:endParaRPr lang="en-US" sz="1550" dirty="0"/>
          </a:p>
          <a:p>
            <a:pPr marL="0" indent="0" algn="just">
              <a:buNone/>
            </a:pPr>
            <a:endParaRPr lang="en-US" sz="1550" dirty="0"/>
          </a:p>
          <a:p>
            <a:pPr marL="0" indent="0" algn="just">
              <a:buNone/>
            </a:pPr>
            <a:r>
              <a:rPr lang="en-US" sz="1550" dirty="0">
                <a:solidFill>
                  <a:srgbClr val="1A1A1A"/>
                </a:solidFill>
                <a:latin typeface="Calibri" pitchFamily="34" charset="0"/>
                <a:ea typeface="Calibri" pitchFamily="34" charset="-122"/>
                <a:cs typeface="Calibri" pitchFamily="34" charset="-120"/>
              </a:rPr>
              <a:t>The analysis shows that trip duration and hotel rating are statistically significant drivers of package price, and highlights Munnar, Gangtok, and Jaisalmer as standout destinations for availability, premium pricing, and value respectively — insights that can guide both travelers and TravelTriangle's own pricing strategy.</a:t>
            </a:r>
            <a:endParaRPr lang="en-US" sz="1550" dirty="0"/>
          </a:p>
        </p:txBody>
      </p:sp>
      <p:sp>
        <p:nvSpPr>
          <p:cNvPr id="4" name="Text 2"/>
          <p:cNvSpPr/>
          <p:nvPr/>
        </p:nvSpPr>
        <p:spPr>
          <a:xfrm>
            <a:off x="365760" y="6537960"/>
            <a:ext cx="7315200" cy="27432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Sakshith  |  TravelTriangle Package Analysis</a:t>
            </a:r>
            <a:endParaRPr lang="en-US" sz="900" dirty="0"/>
          </a:p>
        </p:txBody>
      </p:sp>
      <p:sp>
        <p:nvSpPr>
          <p:cNvPr id="5" name="Text 3"/>
          <p:cNvSpPr/>
          <p:nvPr/>
        </p:nvSpPr>
        <p:spPr>
          <a:xfrm>
            <a:off x="11368735" y="6537960"/>
            <a:ext cx="457200" cy="274320"/>
          </a:xfrm>
          <a:prstGeom prst="rect">
            <a:avLst/>
          </a:prstGeom>
          <a:noFill/>
          <a:ln/>
        </p:spPr>
        <p:txBody>
          <a:bodyPr wrap="square" lIns="0" tIns="0" rIns="0" bIns="0"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handshake.png"/>
          <p:cNvPicPr>
            <a:picLocks noChangeAspect="1"/>
          </p:cNvPicPr>
          <p:nvPr/>
        </p:nvPicPr>
        <p:blipFill>
          <a:blip r:embed="rId3"/>
          <a:stretch>
            <a:fillRect/>
          </a:stretch>
        </p:blipFill>
        <p:spPr>
          <a:xfrm>
            <a:off x="6464808" y="1847088"/>
            <a:ext cx="4462272" cy="2834640"/>
          </a:xfrm>
          <a:prstGeom prst="rect">
            <a:avLst/>
          </a:prstGeom>
        </p:spPr>
      </p:pic>
      <p:sp>
        <p:nvSpPr>
          <p:cNvPr id="3" name="Text 0"/>
          <p:cNvSpPr/>
          <p:nvPr/>
        </p:nvSpPr>
        <p:spPr>
          <a:xfrm>
            <a:off x="1097280" y="2788920"/>
            <a:ext cx="4114800" cy="822960"/>
          </a:xfrm>
          <a:prstGeom prst="rect">
            <a:avLst/>
          </a:prstGeom>
          <a:noFill/>
          <a:ln/>
        </p:spPr>
        <p:txBody>
          <a:bodyPr wrap="square" lIns="0" tIns="0" rIns="0" bIns="0" rtlCol="0" anchor="ctr"/>
          <a:lstStyle/>
          <a:p>
            <a:pPr marL="0" indent="0">
              <a:buNone/>
            </a:pPr>
            <a:r>
              <a:rPr lang="en-US" sz="3600" dirty="0">
                <a:solidFill>
                  <a:srgbClr val="C00000"/>
                </a:solidFill>
                <a:latin typeface="Cambria" pitchFamily="34" charset="0"/>
                <a:ea typeface="Cambria" pitchFamily="34" charset="-122"/>
                <a:cs typeface="Cambria" pitchFamily="34" charset="-120"/>
              </a:rPr>
              <a:t>THANK YOU</a:t>
            </a:r>
            <a:endParaRPr lang="en-US" sz="3600" dirty="0"/>
          </a:p>
        </p:txBody>
      </p:sp>
      <p:sp>
        <p:nvSpPr>
          <p:cNvPr id="4" name="Text 1"/>
          <p:cNvSpPr/>
          <p:nvPr/>
        </p:nvSpPr>
        <p:spPr>
          <a:xfrm>
            <a:off x="1097280" y="3566160"/>
            <a:ext cx="4114800" cy="457200"/>
          </a:xfrm>
          <a:prstGeom prst="rect">
            <a:avLst/>
          </a:prstGeom>
          <a:noFill/>
          <a:ln/>
        </p:spPr>
        <p:txBody>
          <a:bodyPr wrap="square" lIns="0" tIns="0" rIns="0" bIns="0" rtlCol="0" anchor="ctr"/>
          <a:lstStyle/>
          <a:p>
            <a:pPr marL="0" indent="0">
              <a:buNone/>
            </a:pPr>
            <a:r>
              <a:rPr lang="en-US" sz="1600" i="1" dirty="0">
                <a:solidFill>
                  <a:srgbClr val="555555"/>
                </a:solidFill>
                <a:latin typeface="Calibri" pitchFamily="34" charset="0"/>
                <a:ea typeface="Calibri" pitchFamily="34" charset="-122"/>
                <a:cs typeface="Calibri" pitchFamily="34" charset="-120"/>
              </a:rPr>
              <a:t>Sakshith</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671</TotalTime>
  <Words>1090</Words>
  <Application>Microsoft Office PowerPoint</Application>
  <PresentationFormat>Widescreen</PresentationFormat>
  <Paragraphs>139</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system-ui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sakshith Yadav</cp:lastModifiedBy>
  <cp:revision>3</cp:revision>
  <dcterms:created xsi:type="dcterms:W3CDTF">2026-08-25T19:54:04Z</dcterms:created>
  <dcterms:modified xsi:type="dcterms:W3CDTF">2026-08-26T10:32:50Z</dcterms:modified>
</cp:coreProperties>
</file>